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67" r:id="rId4"/>
    <p:sldId id="262" r:id="rId5"/>
    <p:sldId id="258" r:id="rId6"/>
    <p:sldId id="259" r:id="rId7"/>
    <p:sldId id="266" r:id="rId8"/>
    <p:sldId id="260" r:id="rId9"/>
    <p:sldId id="261" r:id="rId10"/>
    <p:sldId id="264" r:id="rId11"/>
    <p:sldId id="263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D38D4-7028-1C94-030C-4669991A619F}" v="393" dt="2022-06-04T14:28:24.742"/>
    <p1510:client id="{2AB2C1D1-D3B8-4B7B-5A6F-B67ABB2A7F03}" v="1" dt="2022-06-06T13:22:15.740"/>
    <p1510:client id="{3D06D605-1B1F-4242-9601-2908E09308C1}" v="100" dt="2022-06-04T09:54:16.693"/>
    <p1510:client id="{7C7FC2E7-44C6-B147-3CEF-AD9606E00CB4}" v="228" dt="2022-06-04T11:20:38.600"/>
    <p1510:client id="{9B9B9905-108E-A374-303B-B1B0F50D54D7}" v="32" dt="2022-06-04T14:40:49.710"/>
    <p1510:client id="{A4FC2AE1-B8EC-4CD0-F151-F6613E8C8AFD}" v="184" dt="2022-06-04T12:36:52.835"/>
    <p1510:client id="{AB2C8DD0-C60F-6AE0-5999-31E76E0E2484}" v="16" dt="2022-06-06T12:34:25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6/6/2022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11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6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8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4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8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5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8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8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6/6/2022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33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4A0238B8-B70C-1AF5-9FC0-3F5C376745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6562" r="6" b="9027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cs typeface="Calibri Light"/>
              </a:rPr>
              <a:t>KOSS Task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606" y="3602038"/>
            <a:ext cx="7063739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"/>
              </a:rPr>
              <a:t>By Krish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31D9-6293-7531-C308-74165E8DF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78E0-0DEA-5B95-31BC-82EF595DB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git</a:t>
            </a:r>
            <a:r>
              <a:rPr lang="en-US" dirty="0">
                <a:ea typeface="+mn-lt"/>
                <a:cs typeface="+mn-lt"/>
              </a:rPr>
              <a:t> is a free and open-source distributed version control system designed to handle everything from small to very large projects with speed and efficiency.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+mn-lt"/>
                <a:cs typeface="+mn-lt"/>
              </a:rPr>
              <a:t>It is a software for tracking changes in any set of files, usually used for coordinating work among programmers collaboratively developing source code during software development. 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+mn-lt"/>
                <a:cs typeface="+mn-lt"/>
              </a:rPr>
              <a:t>Its goals include speed, data integrity, and support for distributed, non-linear workflows.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4" descr="Logo, icon&#10;&#10;Description automatically generated">
            <a:extLst>
              <a:ext uri="{FF2B5EF4-FFF2-40B4-BE49-F238E27FC236}">
                <a16:creationId xmlns:a16="http://schemas.microsoft.com/office/drawing/2014/main" id="{0381636E-256A-32CC-0445-CF7222A9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387" y="4002803"/>
            <a:ext cx="4793226" cy="201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2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DE22-58F5-9245-409A-4A534FD4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900" y="2550484"/>
            <a:ext cx="10659110" cy="1325563"/>
          </a:xfrm>
        </p:spPr>
        <p:txBody>
          <a:bodyPr/>
          <a:lstStyle/>
          <a:p>
            <a:pPr algn="ctr"/>
            <a:r>
              <a:rPr lang="en-US" dirty="0"/>
              <a:t>Some New Git Commands</a:t>
            </a:r>
          </a:p>
        </p:txBody>
      </p:sp>
    </p:spTree>
    <p:extLst>
      <p:ext uri="{BB962C8B-B14F-4D97-AF65-F5344CB8AC3E}">
        <p14:creationId xmlns:p14="http://schemas.microsoft.com/office/powerpoint/2010/main" val="130850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F4B5-F5BE-5439-2DE8-249DC851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switch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A9045-C2E2-9C59-26B1-E0555FE2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Used to switch to another branch.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Calibri"/>
                <a:cs typeface="Calibri"/>
              </a:rPr>
              <a:t>An alternative to </a:t>
            </a:r>
            <a:r>
              <a:rPr lang="en-US" dirty="0">
                <a:latin typeface="Consolas"/>
                <a:ea typeface="Calibri"/>
                <a:cs typeface="Calibri"/>
              </a:rPr>
              <a:t>git checkout</a:t>
            </a:r>
            <a:r>
              <a:rPr lang="en-US" dirty="0">
                <a:ea typeface="Calibri"/>
                <a:cs typeface="Calibri"/>
              </a:rPr>
              <a:t> to avoid confusion (as </a:t>
            </a:r>
            <a:r>
              <a:rPr lang="en-US" dirty="0">
                <a:latin typeface="Consolas"/>
                <a:ea typeface="Calibri"/>
                <a:cs typeface="Calibri"/>
              </a:rPr>
              <a:t>checkout</a:t>
            </a:r>
            <a:r>
              <a:rPr lang="en-US" dirty="0">
                <a:ea typeface="Calibri"/>
                <a:cs typeface="Calibri"/>
              </a:rPr>
              <a:t> can work on both file and branch level).</a:t>
            </a: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ea typeface="Calibri"/>
                <a:cs typeface="Calibri"/>
              </a:rPr>
              <a:t>To go back to the previous branch: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32CDDEE-7A2F-60F3-9995-11ED9B48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11" y="3048342"/>
            <a:ext cx="8876070" cy="87192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02AC6EC-CF2C-EDB5-1604-1D419ED6E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1" y="4611791"/>
            <a:ext cx="3453580" cy="63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8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58FD-DD05-84D3-BAE7-6F9731DE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stash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DF2BE-3BB5-60AA-7561-3BD3DEA57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Used to stash local</a:t>
            </a:r>
            <a:r>
              <a:rPr lang="en-US" dirty="0">
                <a:ea typeface="+mn-lt"/>
                <a:cs typeface="+mn-lt"/>
              </a:rPr>
              <a:t> changes without git commit or git push.</a:t>
            </a:r>
          </a:p>
          <a:p>
            <a:pPr>
              <a:buClr>
                <a:srgbClr val="435179"/>
              </a:buClr>
            </a:pPr>
            <a:r>
              <a:rPr lang="en-US" dirty="0">
                <a:cs typeface="Calibri"/>
              </a:rPr>
              <a:t>Helps to avoid dirty commits by saving a draft of what you're currently working on.</a:t>
            </a:r>
          </a:p>
          <a:p>
            <a:pPr marL="0" indent="0">
              <a:buNone/>
            </a:pPr>
            <a:endParaRPr lang="en-US" dirty="0">
              <a:latin typeface="Consolas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45517-32FB-B239-356C-E536231B3094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6" descr="Text&#10;&#10;Description automatically generated">
            <a:extLst>
              <a:ext uri="{FF2B5EF4-FFF2-40B4-BE49-F238E27FC236}">
                <a16:creationId xmlns:a16="http://schemas.microsoft.com/office/drawing/2014/main" id="{C7A689CC-9E62-C4CE-7943-B649AE4A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594" y="2727478"/>
            <a:ext cx="5533103" cy="371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1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B466-2FD1-26D3-CCE9-A216C9A6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bisect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2A30-BB1C-90B2-2176-ABFBA9764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latin typeface="Consolas"/>
              </a:rPr>
              <a:t>git bisect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command is used to discover the commit that has introduced a bug in the code.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+mn-lt"/>
                <a:cs typeface="+mn-lt"/>
              </a:rPr>
              <a:t>This command uses binary search algorithm.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+mn-lt"/>
                <a:cs typeface="+mn-lt"/>
              </a:rPr>
              <a:t>It helps track down the commit where the code works and the commit where it does not, hence, tracking down the commit that introduced the bug into the code.</a:t>
            </a:r>
          </a:p>
        </p:txBody>
      </p:sp>
      <p:pic>
        <p:nvPicPr>
          <p:cNvPr id="5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8C68ADA1-B57A-4EFD-B79F-943CA418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481" y="3739403"/>
            <a:ext cx="62674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53A0-B567-E455-96D3-ACE5BB9C3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34" y="241860"/>
            <a:ext cx="10659110" cy="1325563"/>
          </a:xfrm>
        </p:spPr>
        <p:txBody>
          <a:bodyPr/>
          <a:lstStyle/>
          <a:p>
            <a:r>
              <a:rPr lang="en-US" dirty="0"/>
              <a:t>Example for git bisect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9AD86-2566-B169-CE72-40F7E431F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34" y="1332205"/>
            <a:ext cx="10659110" cy="45234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assuming the third commit is the bad commit,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ea typeface="Calibri"/>
                <a:cs typeface="Calibri"/>
              </a:rPr>
              <a:t>Git selects the commit in the middle of the history (third in this case). As this version is still bugged, we enter</a:t>
            </a:r>
            <a:endParaRPr lang="en-US" dirty="0">
              <a:solidFill>
                <a:srgbClr val="1D2334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Clr>
                <a:srgbClr val="435179"/>
              </a:buClr>
              <a:buNone/>
            </a:pPr>
            <a:r>
              <a:rPr lang="en-US" dirty="0">
                <a:solidFill>
                  <a:srgbClr val="1D2334"/>
                </a:solidFill>
                <a:latin typeface="Consolas"/>
                <a:ea typeface="Calibri"/>
                <a:cs typeface="Calibri"/>
              </a:rPr>
              <a:t>$</a:t>
            </a:r>
            <a:r>
              <a:rPr lang="en-US" dirty="0">
                <a:solidFill>
                  <a:srgbClr val="1D233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>
                <a:solidFill>
                  <a:srgbClr val="1D2334"/>
                </a:solidFill>
                <a:latin typeface="Consolas"/>
                <a:ea typeface="Calibri"/>
                <a:cs typeface="Calibri"/>
              </a:rPr>
              <a:t>git bisect bad</a:t>
            </a:r>
            <a:endParaRPr lang="en-US" dirty="0">
              <a:latin typeface="Consolas"/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latin typeface="Calibri"/>
                <a:ea typeface="Calibri"/>
                <a:cs typeface="Calibri"/>
              </a:rPr>
              <a:t>Now, git selects the commit between first and third, which is second. As this isn't bugged, we enter </a:t>
            </a:r>
            <a:endParaRPr lang="en-US" dirty="0">
              <a:solidFill>
                <a:srgbClr val="1D2334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Clr>
                <a:srgbClr val="435179"/>
              </a:buClr>
              <a:buNone/>
            </a:pPr>
            <a:r>
              <a:rPr lang="en-US" dirty="0">
                <a:solidFill>
                  <a:srgbClr val="1D2334"/>
                </a:solidFill>
                <a:latin typeface="Consolas"/>
                <a:ea typeface="Calibri"/>
                <a:cs typeface="Calibri"/>
              </a:rPr>
              <a:t>$</a:t>
            </a:r>
            <a:r>
              <a:rPr lang="en-US" dirty="0">
                <a:solidFill>
                  <a:srgbClr val="1D233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dirty="0">
                <a:solidFill>
                  <a:srgbClr val="1D2334"/>
                </a:solidFill>
                <a:latin typeface="Consolas"/>
                <a:ea typeface="Calibri"/>
                <a:cs typeface="Calibri"/>
              </a:rPr>
              <a:t>git bisect good</a:t>
            </a:r>
            <a:endParaRPr lang="en-US" dirty="0">
              <a:latin typeface="Consolas"/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latin typeface="Calibri"/>
                <a:ea typeface="Calibri"/>
                <a:cs typeface="Calibri"/>
              </a:rPr>
              <a:t>As there isn't any version between second and third, the command prints out the description of the bad (third) commit.</a:t>
            </a: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AA5DEDE-0FF1-F7E9-8E76-B0F9B03B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71" y="1639108"/>
            <a:ext cx="6196781" cy="146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1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D305-C0DB-576C-0BA6-B67AF2CB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</a:t>
            </a:r>
            <a:r>
              <a:rPr lang="en-US" dirty="0" err="1">
                <a:ea typeface="+mj-lt"/>
                <a:cs typeface="+mj-lt"/>
              </a:rPr>
              <a:t>reflog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D9C4C-80E6-3825-3A15-21CB666D2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It is </a:t>
            </a:r>
            <a:r>
              <a:rPr lang="en-US">
                <a:latin typeface="Calibri"/>
                <a:cs typeface="Calibri"/>
              </a:rPr>
              <a:t>similar to </a:t>
            </a:r>
            <a:r>
              <a:rPr lang="en-US">
                <a:latin typeface="Consolas"/>
              </a:rPr>
              <a:t>log </a:t>
            </a:r>
            <a:r>
              <a:rPr lang="en-US">
                <a:latin typeface="Calibri"/>
                <a:cs typeface="Calibri"/>
              </a:rPr>
              <a:t>but</a:t>
            </a:r>
            <a:r>
              <a:rPr lang="en-US" dirty="0">
                <a:ea typeface="+mn-lt"/>
                <a:cs typeface="+mn-lt"/>
              </a:rPr>
              <a:t> can also used for commands that don't show up in your commit history.</a:t>
            </a:r>
            <a:endParaRPr lang="en-US" dirty="0">
              <a:latin typeface="Consolas"/>
            </a:endParaRPr>
          </a:p>
          <a:p>
            <a:pPr>
              <a:buClr>
                <a:srgbClr val="435179"/>
              </a:buClr>
            </a:pPr>
            <a:r>
              <a:rPr lang="en-US">
                <a:latin typeface="Consolas"/>
              </a:rPr>
              <a:t>reflog</a:t>
            </a:r>
            <a:r>
              <a:rPr lang="en-US">
                <a:ea typeface="+mn-lt"/>
                <a:cs typeface="+mn-lt"/>
              </a:rPr>
              <a:t> is basically your safety net after running "scary" commands like </a:t>
            </a:r>
            <a:r>
              <a:rPr lang="en-US" dirty="0">
                <a:latin typeface="Consolas"/>
              </a:rPr>
              <a:t>git rebase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Clr>
                <a:srgbClr val="435179"/>
              </a:buClr>
            </a:pPr>
            <a:r>
              <a:rPr lang="en-US">
                <a:ea typeface="+mn-lt"/>
                <a:cs typeface="+mn-lt"/>
              </a:rPr>
              <a:t>You'll be </a:t>
            </a:r>
            <a:r>
              <a:rPr lang="en-US" dirty="0">
                <a:ea typeface="+mn-lt"/>
                <a:cs typeface="+mn-lt"/>
              </a:rPr>
              <a:t>able to see not only the commits you made, but each of the actions that led you there</a:t>
            </a:r>
            <a:endParaRPr lang="en-US"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EEBE5D3-E3C9-2E15-4577-03729C2D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150" y="3030025"/>
            <a:ext cx="5354279" cy="320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3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4E4E-6780-3683-47D7-B1FE2DEB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diff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6E83-67BB-A84A-818A-BC6BC8EF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Used to see differences between:</a:t>
            </a:r>
          </a:p>
          <a:p>
            <a:pPr>
              <a:buClr>
                <a:srgbClr val="435179"/>
              </a:buClr>
            </a:pPr>
            <a:r>
              <a:rPr lang="en-US" dirty="0">
                <a:ea typeface="Calibri"/>
                <a:cs typeface="Calibri"/>
              </a:rPr>
              <a:t>Branches</a:t>
            </a: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ea typeface="Calibri"/>
                <a:cs typeface="Calibri"/>
              </a:rPr>
              <a:t>staged (or </a:t>
            </a:r>
            <a:r>
              <a:rPr lang="en-US" dirty="0" err="1">
                <a:ea typeface="Calibri"/>
                <a:cs typeface="Calibri"/>
              </a:rPr>
              <a:t>unstaged</a:t>
            </a:r>
            <a:r>
              <a:rPr lang="en-US" dirty="0">
                <a:ea typeface="Calibri"/>
                <a:cs typeface="Calibri"/>
              </a:rPr>
              <a:t>) changes.</a:t>
            </a:r>
          </a:p>
          <a:p>
            <a:pPr>
              <a:buClr>
                <a:srgbClr val="435179"/>
              </a:buClr>
            </a:pPr>
            <a:endParaRPr lang="en-US" dirty="0">
              <a:latin typeface="Consolas"/>
              <a:ea typeface="Calibri"/>
              <a:cs typeface="Calibri"/>
            </a:endParaRPr>
          </a:p>
          <a:p>
            <a:pPr>
              <a:buClr>
                <a:srgbClr val="435179"/>
              </a:buClr>
            </a:pPr>
            <a:endParaRPr lang="en-US" dirty="0">
              <a:latin typeface="Consolas"/>
              <a:ea typeface="Calibri"/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8C3D272-8259-3F35-CB7E-CE333FBEE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62" y="4452793"/>
            <a:ext cx="8888361" cy="1184768"/>
          </a:xfrm>
          <a:prstGeom prst="rect">
            <a:avLst/>
          </a:prstGeom>
        </p:spPr>
      </p:pic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F0A683FA-6844-7296-4C01-2B9263CF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563" y="2709050"/>
            <a:ext cx="5803490" cy="71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3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EE8C-5232-11B6-267D-A8BB9C48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cherry-pick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ACA7-9FA1-15B3-0438-3E2FCEACB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825625"/>
            <a:ext cx="10659110" cy="47883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Used to pick changes from another branch and then apply to our branch.</a:t>
            </a:r>
          </a:p>
          <a:p>
            <a:pPr>
              <a:buClr>
                <a:srgbClr val="435179"/>
              </a:buClr>
            </a:pPr>
            <a:r>
              <a:rPr lang="en-US" dirty="0" err="1">
                <a:ea typeface="Calibri"/>
                <a:cs typeface="Calibri"/>
              </a:rPr>
              <a:t>eg.</a:t>
            </a:r>
            <a:r>
              <a:rPr lang="en-US" dirty="0">
                <a:ea typeface="Calibri"/>
                <a:cs typeface="Calibri"/>
              </a:rPr>
              <a:t> When in the feature branch, enter:</a:t>
            </a:r>
          </a:p>
          <a:p>
            <a:pPr marL="0" indent="0" algn="ctr">
              <a:buClr>
                <a:srgbClr val="435179"/>
              </a:buClr>
              <a:buNone/>
            </a:pPr>
            <a:r>
              <a:rPr lang="en-US" dirty="0">
                <a:latin typeface="Consolas"/>
                <a:ea typeface="Calibri"/>
                <a:cs typeface="Calibri"/>
              </a:rPr>
              <a:t>$ git cherry-pick D</a:t>
            </a:r>
          </a:p>
          <a:p>
            <a:pPr marL="0" indent="0" algn="ctr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The D commit (from master) is cherry picked into our feature branch.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D53647B8-0E5B-E006-0EDB-9877A839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05" y="3042397"/>
            <a:ext cx="571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41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DA8B-9D21-F883-B785-D369F180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git rebase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01B64-378D-9F27-5F10-C3A95FDB2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Has a reputation for being magical Git voodoo that beginners should stay away </a:t>
            </a:r>
            <a:r>
              <a:rPr lang="en-US">
                <a:ea typeface="+mn-lt"/>
                <a:cs typeface="+mn-lt"/>
              </a:rPr>
              <a:t>from.</a:t>
            </a:r>
            <a:endParaRPr lang="en-US" dirty="0">
              <a:cs typeface="Calibri"/>
            </a:endParaRPr>
          </a:p>
          <a:p>
            <a:pPr>
              <a:buClr>
                <a:srgbClr val="435179"/>
              </a:buClr>
            </a:pPr>
            <a:r>
              <a:rPr lang="en-US" dirty="0">
                <a:cs typeface="Calibri"/>
              </a:rPr>
              <a:t>It can be used as an alternative to git merge.</a:t>
            </a:r>
          </a:p>
          <a:p>
            <a:pPr>
              <a:buClr>
                <a:srgbClr val="435179"/>
              </a:buClr>
            </a:pPr>
            <a:r>
              <a:rPr lang="en-US" dirty="0">
                <a:cs typeface="Calibri"/>
              </a:rPr>
              <a:t>Reapplies commits on top of another base tip.</a:t>
            </a:r>
          </a:p>
          <a:p>
            <a:pPr>
              <a:buClr>
                <a:srgbClr val="435179"/>
              </a:buClr>
            </a:pPr>
            <a:r>
              <a:rPr lang="en-US" dirty="0">
                <a:cs typeface="Calibri"/>
              </a:rPr>
              <a:t>Can be used if you prefer </a:t>
            </a:r>
            <a:r>
              <a:rPr lang="en-US" b="1" dirty="0">
                <a:ea typeface="+mn-lt"/>
                <a:cs typeface="+mn-lt"/>
              </a:rPr>
              <a:t>a clean, linear history free of unnecessary merge commits.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562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7C46-7D73-C699-3829-5FCCD6C5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vs rebase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AF9136F3-1206-34A4-217F-D5A5B43DD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397" y="1600782"/>
            <a:ext cx="5437568" cy="3663081"/>
          </a:xfrm>
        </p:spPr>
      </p:pic>
      <p:pic>
        <p:nvPicPr>
          <p:cNvPr id="5" name="Graphic 5">
            <a:extLst>
              <a:ext uri="{FF2B5EF4-FFF2-40B4-BE49-F238E27FC236}">
                <a16:creationId xmlns:a16="http://schemas.microsoft.com/office/drawing/2014/main" id="{65A14C7D-905C-ABBE-B1E3-5B4C33555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583" y="1684518"/>
            <a:ext cx="5422490" cy="3663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85016-2BBC-F65D-6373-863649BCD3FB}"/>
              </a:ext>
            </a:extLst>
          </p:cNvPr>
          <p:cNvSpPr txBox="1"/>
          <p:nvPr/>
        </p:nvSpPr>
        <p:spPr>
          <a:xfrm>
            <a:off x="956421" y="5752539"/>
            <a:ext cx="102735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 dirty="0"/>
              <a:t>Generally, </a:t>
            </a:r>
            <a:r>
              <a:rPr lang="en-US" sz="2400" b="1" i="1" dirty="0">
                <a:ea typeface="+mn-lt"/>
                <a:cs typeface="+mn-lt"/>
              </a:rPr>
              <a:t>you should merge to main branch and rebase the feature branches.</a:t>
            </a:r>
          </a:p>
        </p:txBody>
      </p:sp>
    </p:spTree>
    <p:extLst>
      <p:ext uri="{BB962C8B-B14F-4D97-AF65-F5344CB8AC3E}">
        <p14:creationId xmlns:p14="http://schemas.microsoft.com/office/powerpoint/2010/main" val="253510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D999-A8C5-C8E5-4191-746BF61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34" y="2628713"/>
            <a:ext cx="1065911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1781547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DarkSeedLeftStep">
      <a:dk1>
        <a:srgbClr val="000000"/>
      </a:dk1>
      <a:lt1>
        <a:srgbClr val="FFFFFF"/>
      </a:lt1>
      <a:dk2>
        <a:srgbClr val="1D2334"/>
      </a:dk2>
      <a:lt2>
        <a:srgbClr val="E3E8E2"/>
      </a:lt2>
      <a:accent1>
        <a:srgbClr val="B93FD1"/>
      </a:accent1>
      <a:accent2>
        <a:srgbClr val="6A2DBF"/>
      </a:accent2>
      <a:accent3>
        <a:srgbClr val="3F3FD1"/>
      </a:accent3>
      <a:accent4>
        <a:srgbClr val="2D6ABF"/>
      </a:accent4>
      <a:accent5>
        <a:srgbClr val="3CAFC6"/>
      </a:accent5>
      <a:accent6>
        <a:srgbClr val="2BB693"/>
      </a:accent6>
      <a:hlink>
        <a:srgbClr val="3B8AB2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ConfettiVTI</vt:lpstr>
      <vt:lpstr>KOSS Task</vt:lpstr>
      <vt:lpstr>What is git?</vt:lpstr>
      <vt:lpstr>Some New Git Commands</vt:lpstr>
      <vt:lpstr>git switch</vt:lpstr>
      <vt:lpstr>git stash</vt:lpstr>
      <vt:lpstr>git bisect</vt:lpstr>
      <vt:lpstr>Example for git bisect</vt:lpstr>
      <vt:lpstr>git reflog</vt:lpstr>
      <vt:lpstr>git diff</vt:lpstr>
      <vt:lpstr>git cherry-pick</vt:lpstr>
      <vt:lpstr>git rebase</vt:lpstr>
      <vt:lpstr>merge vs rebase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332</cp:revision>
  <dcterms:created xsi:type="dcterms:W3CDTF">2022-06-04T09:50:24Z</dcterms:created>
  <dcterms:modified xsi:type="dcterms:W3CDTF">2022-06-06T13:22:38Z</dcterms:modified>
</cp:coreProperties>
</file>