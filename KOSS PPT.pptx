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5" r:id="rId1"/>
  </p:sldMasterIdLst>
  <p:sldIdLst>
    <p:sldId id="256" r:id="rId2"/>
    <p:sldId id="257" r:id="rId3"/>
    <p:sldId id="267" r:id="rId4"/>
    <p:sldId id="262" r:id="rId5"/>
    <p:sldId id="258" r:id="rId6"/>
    <p:sldId id="259" r:id="rId7"/>
    <p:sldId id="266" r:id="rId8"/>
    <p:sldId id="260" r:id="rId9"/>
    <p:sldId id="261" r:id="rId10"/>
    <p:sldId id="263" r:id="rId11"/>
    <p:sldId id="265" r:id="rId12"/>
    <p:sldId id="264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AAD38D4-7028-1C94-030C-4669991A619F}" v="393" dt="2022-06-04T14:28:24.742"/>
    <p1510:client id="{3D06D605-1B1F-4242-9601-2908E09308C1}" v="100" dt="2022-06-04T09:54:16.693"/>
    <p1510:client id="{7C7FC2E7-44C6-B147-3CEF-AD9606E00CB4}" v="228" dt="2022-06-04T11:20:38.600"/>
    <p1510:client id="{9B9B9905-108E-A374-303B-B1B0F50D54D7}" v="32" dt="2022-06-04T14:40:49.710"/>
    <p1510:client id="{A4FC2AE1-B8EC-4CD0-F151-F6613E8C8AFD}" v="184" dt="2022-06-04T12:36:52.835"/>
    <p1510:client id="{AB2C8DD0-C60F-6AE0-5999-31E76E0E2484}" v="16" dt="2022-06-06T12:34:25.56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058BF-C5E1-4B52-BD8A-FD1AD57793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CD51F7-3CC3-4BB7-8291-B1789482E8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20447-D6C7-43E1-AE88-1FB66CC9C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A76A3-ADC8-4477-8FC1-B9DD55D84908}" type="datetime1">
              <a:rPr lang="en-US" smtClean="0"/>
              <a:t>6/6/2022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E17B6-E7FC-473A-8D5F-0E6B838EA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4AF4E0-FDDB-42B9-862C-7BBC501CD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7119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736C8-0B4F-4655-A630-0B1D2540B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78B888-85E0-4D92-903E-C3FE7E870D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648916-250B-4232-BD7D-571FDE79F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F49BE-398D-479A-8A7E-5DDBCA61EDCB}" type="datetime1">
              <a:rPr lang="en-US" smtClean="0"/>
              <a:t>6/6/2022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A8BFB4-647C-4104-B6D4-3346051C3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0FA73F-2BE8-4370-AE90-58F4CE51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667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1446D-9FAC-4157-A41A-51675C8BE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1709738"/>
            <a:ext cx="10570210" cy="275889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AF8D4A-8F93-4399-9546-64F286400D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4589463"/>
            <a:ext cx="1057021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9C2FD4-BF96-470C-8247-20DFAE1CF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0C193-4974-4A1F-9C63-07D595E30D66}" type="datetime1">
              <a:rPr lang="en-US" smtClean="0"/>
              <a:t>6/6/2022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175A2D-86C4-4467-BAB8-E9ED004D2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442A4D-D9B2-4C82-95E4-B86F9F5F3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7320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6B3AA-8C30-429E-B934-AF1220438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5834E-691F-4728-88F5-A0C4696695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77240" y="1825625"/>
            <a:ext cx="524256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876374-880F-4E25-9F88-79E3C1AB1F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19BD69-B509-4FCE-95A8-ED03FFC8C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AA87F-28D4-4BF0-B81F-877A89DFD5AC}" type="datetime1">
              <a:rPr lang="en-US" smtClean="0"/>
              <a:t>6/6/2022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7C287B-AE5B-490B-BF81-A50D7A2E8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3C2246-303C-4A29-B6EA-E62CEDE6C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1984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2FE79-D5BE-43E8-B6C5-2675B7F4D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578148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9D3A07-BA51-4113-902E-830A887D23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01812"/>
            <a:ext cx="5220335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E320A9-E274-4E1B-B02D-9A3F510A1F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77240" y="2825749"/>
            <a:ext cx="5220335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E80D3A-C2A8-4B78-B7E2-4908C74B1C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01812"/>
            <a:ext cx="5183188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5D84DD-9460-4B08-86AD-27486A9400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825749"/>
            <a:ext cx="5183188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B0B7F8-282C-4210-AE7D-F35228BA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9F1F3-208B-49A3-B337-9C8ACEB3E0E1}" type="datetime1">
              <a:rPr lang="en-US" smtClean="0"/>
              <a:t>6/6/2022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E343A9-1067-4DCF-BACC-1F7F38050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84E471-04DB-4DB5-8CC5-16B3FC885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6412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D87C0-272E-4E50-A316-78079B2B9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06C1C9-1F69-432A-858C-D828B56E1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F6CA6-7293-4AA2-A0E0-A3BF4416E786}" type="datetime1">
              <a:rPr lang="en-US" smtClean="0"/>
              <a:t>6/6/2022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6D9A1B-D149-4B97-B161-3D7C9ADBC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B3722F-8C88-4E54-8CD6-12D31A05F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1881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E1B4EE-6DFC-45F3-9174-D913EB57C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87016-7BCD-46FB-8EE3-AB6C369108B4}" type="datetime1">
              <a:rPr lang="en-US" smtClean="0"/>
              <a:t>6/6/2022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7F7DC-6DDE-4337-AD27-BBE7D5422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C58EA9-3AC4-421E-B133-1FA7757DF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5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035BB-74CC-43E9-B71F-A5C05D17E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190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ADC9E-7845-4DB1-87E3-6FBFB2B03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172200" cy="540385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C925A8-2A07-43B9-B549-061F368498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92450"/>
            <a:ext cx="3994785" cy="277653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1A9037-0564-43A1-8156-1D9932E1F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47011-1FFC-4EF8-9A2E-53B4AD2ADBD4}" type="datetime1">
              <a:rPr lang="en-US" smtClean="0"/>
              <a:t>6/6/2022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FF0D40-D0E1-49C9-BE47-91BBC50AB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D129BD-890D-412E-9805-D29F4A0D3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8555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8ADB4-BA7B-42C2-9C6C-58B2763F8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5456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519B58-B546-4E6B-BE00-3D1D64DA86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457201"/>
            <a:ext cx="6172200" cy="54038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AA0AB8-41A9-4548-9B83-3EFF79A00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81275"/>
            <a:ext cx="3994785" cy="2779776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BB33ED-A015-4992-A004-33D41CFFA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2EB47-45B4-4EF5-A743-B4885DD2F060}" type="datetime1">
              <a:rPr lang="en-US" smtClean="0"/>
              <a:t>6/6/2022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C29CDA-E85F-47D1-83B7-02A50DEBF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49625F-5352-4136-8AC4-F8899D00A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087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E922F-6166-4009-A42D-027DC7180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7791CF-167D-446D-9F99-6976C986E2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CA422-E040-4DE1-9DA5-C8D37C116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762538-DC4D-4667-96E5-B3278DDF8B12}" type="datetime1">
              <a:rPr lang="en-US" smtClean="0"/>
              <a:t>6/6/2022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813B0B-60E7-494E-91CB-055BC2690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48C554-7C1B-4D8F-9B6B-044926569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2877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C66EF0-6ED8-49A7-BDAD-E20A143FAE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FCE9CD-90A9-44BA-B293-0662E077DD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57DAE0-05C4-460B-B96D-BD183ED0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80548-5C08-4BE3-B63E-F2BB63B0B00C}" type="datetime1">
              <a:rPr lang="en-US" smtClean="0"/>
              <a:t>6/6/2022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B3CA93-55C9-4AA3-89A0-55490F745B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FD820-FF26-4325-816F-310C30F80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1756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99B5B3C5-A599-465B-B2B9-866E8B2087CE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5C84982-7DD0-43B1-8A2D-BFA4DF1B4E60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8" name="Decorative Circles">
            <a:extLst>
              <a:ext uri="{FF2B5EF4-FFF2-40B4-BE49-F238E27FC236}">
                <a16:creationId xmlns:a16="http://schemas.microsoft.com/office/drawing/2014/main" id="{1D912E1C-3BBA-42F0-A3EE-FEC382E7230A}"/>
              </a:ext>
            </a:extLst>
          </p:cNvPr>
          <p:cNvGrpSpPr/>
          <p:nvPr/>
        </p:nvGrpSpPr>
        <p:grpSpPr>
          <a:xfrm>
            <a:off x="-1" y="-1"/>
            <a:ext cx="12192001" cy="6858001"/>
            <a:chOff x="-1" y="-1"/>
            <a:chExt cx="12192001" cy="6858001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FEEAC76-E273-46A8-8F8E-CE59860FE70D}"/>
                </a:ext>
              </a:extLst>
            </p:cNvPr>
            <p:cNvSpPr/>
            <p:nvPr/>
          </p:nvSpPr>
          <p:spPr>
            <a:xfrm>
              <a:off x="209098" y="727602"/>
              <a:ext cx="172408" cy="172408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6594A0E-9400-45AD-A431-1DA1C0B28966}"/>
                </a:ext>
              </a:extLst>
            </p:cNvPr>
            <p:cNvSpPr/>
            <p:nvPr/>
          </p:nvSpPr>
          <p:spPr>
            <a:xfrm>
              <a:off x="949947" y="136523"/>
              <a:ext cx="113367" cy="113367"/>
            </a:xfrm>
            <a:prstGeom prst="ellipse">
              <a:avLst/>
            </a:prstGeom>
            <a:solidFill>
              <a:srgbClr val="F39E29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0916D6C-D32F-42B6-8512-CD5EDB8F2B9B}"/>
                </a:ext>
              </a:extLst>
            </p:cNvPr>
            <p:cNvSpPr/>
            <p:nvPr/>
          </p:nvSpPr>
          <p:spPr>
            <a:xfrm>
              <a:off x="11575290" y="5859047"/>
              <a:ext cx="305780" cy="30578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834846D-59C6-40F4-907C-F1A4689B58F1}"/>
                </a:ext>
              </a:extLst>
            </p:cNvPr>
            <p:cNvSpPr/>
            <p:nvPr/>
          </p:nvSpPr>
          <p:spPr>
            <a:xfrm>
              <a:off x="95730" y="1133938"/>
              <a:ext cx="226735" cy="226735"/>
            </a:xfrm>
            <a:prstGeom prst="ellipse">
              <a:avLst/>
            </a:prstGeom>
            <a:solidFill>
              <a:schemeClr val="accent3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5A257CDF-2E36-4DC7-8EE4-5CD8F8ECAC87}"/>
                </a:ext>
              </a:extLst>
            </p:cNvPr>
            <p:cNvSpPr/>
            <p:nvPr/>
          </p:nvSpPr>
          <p:spPr>
            <a:xfrm>
              <a:off x="11536830" y="554419"/>
              <a:ext cx="382700" cy="382700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7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D5B26E0E-A115-4AE2-82D8-76BB93CC494F}"/>
                </a:ext>
              </a:extLst>
            </p:cNvPr>
            <p:cNvSpPr/>
            <p:nvPr/>
          </p:nvSpPr>
          <p:spPr>
            <a:xfrm>
              <a:off x="11224303" y="299808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755058DB-7E01-4E95-BF59-983AA1BBB38E}"/>
                </a:ext>
              </a:extLst>
            </p:cNvPr>
            <p:cNvSpPr/>
            <p:nvPr/>
          </p:nvSpPr>
          <p:spPr>
            <a:xfrm>
              <a:off x="11629630" y="5482355"/>
              <a:ext cx="94160" cy="94160"/>
            </a:xfrm>
            <a:prstGeom prst="ellipse">
              <a:avLst/>
            </a:prstGeom>
            <a:solidFill>
              <a:srgbClr val="E3BEBE">
                <a:alpha val="2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A810F7E2-23F3-44D6-B09E-71E556536052}"/>
                </a:ext>
              </a:extLst>
            </p:cNvPr>
            <p:cNvSpPr/>
            <p:nvPr/>
          </p:nvSpPr>
          <p:spPr>
            <a:xfrm>
              <a:off x="10415328" y="6124958"/>
              <a:ext cx="113367" cy="11336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59D5C391-E1DB-410A-A78C-ED3BBDFF0758}"/>
                </a:ext>
              </a:extLst>
            </p:cNvPr>
            <p:cNvSpPr/>
            <p:nvPr/>
          </p:nvSpPr>
          <p:spPr>
            <a:xfrm>
              <a:off x="10120382" y="6255986"/>
              <a:ext cx="305780" cy="30578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77C4944D-9373-4283-BCAA-927A0316659E}"/>
                </a:ext>
              </a:extLst>
            </p:cNvPr>
            <p:cNvSpPr/>
            <p:nvPr/>
          </p:nvSpPr>
          <p:spPr>
            <a:xfrm>
              <a:off x="9934343" y="6204350"/>
              <a:ext cx="113367" cy="11336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6804C521-2D9F-4CE4-AFD3-D4F1551FEC6A}"/>
                </a:ext>
              </a:extLst>
            </p:cNvPr>
            <p:cNvSpPr/>
            <p:nvPr/>
          </p:nvSpPr>
          <p:spPr>
            <a:xfrm>
              <a:off x="11642244" y="6317718"/>
              <a:ext cx="549756" cy="540282"/>
            </a:xfrm>
            <a:custGeom>
              <a:avLst/>
              <a:gdLst>
                <a:gd name="connsiteX0" fmla="*/ 1224540 w 2115556"/>
                <a:gd name="connsiteY0" fmla="*/ 0 h 2079100"/>
                <a:gd name="connsiteX1" fmla="*/ 2090421 w 2115556"/>
                <a:gd name="connsiteY1" fmla="*/ 358660 h 2079100"/>
                <a:gd name="connsiteX2" fmla="*/ 2115556 w 2115556"/>
                <a:gd name="connsiteY2" fmla="*/ 386315 h 2079100"/>
                <a:gd name="connsiteX3" fmla="*/ 2115556 w 2115556"/>
                <a:gd name="connsiteY3" fmla="*/ 2062765 h 2079100"/>
                <a:gd name="connsiteX4" fmla="*/ 2100710 w 2115556"/>
                <a:gd name="connsiteY4" fmla="*/ 2079100 h 2079100"/>
                <a:gd name="connsiteX5" fmla="*/ 348370 w 2115556"/>
                <a:gd name="connsiteY5" fmla="*/ 2079100 h 2079100"/>
                <a:gd name="connsiteX6" fmla="*/ 279625 w 2115556"/>
                <a:gd name="connsiteY6" fmla="*/ 2003461 h 2079100"/>
                <a:gd name="connsiteX7" fmla="*/ 0 w 2115556"/>
                <a:gd name="connsiteY7" fmla="*/ 1224540 h 2079100"/>
                <a:gd name="connsiteX8" fmla="*/ 1224540 w 2115556"/>
                <a:gd name="connsiteY8" fmla="*/ 0 h 207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15556" h="2079100">
                  <a:moveTo>
                    <a:pt x="1224540" y="0"/>
                  </a:moveTo>
                  <a:cubicBezTo>
                    <a:pt x="1562687" y="0"/>
                    <a:pt x="1868823" y="137062"/>
                    <a:pt x="2090421" y="358660"/>
                  </a:cubicBezTo>
                  <a:lnTo>
                    <a:pt x="2115556" y="386315"/>
                  </a:lnTo>
                  <a:lnTo>
                    <a:pt x="2115556" y="2062765"/>
                  </a:lnTo>
                  <a:lnTo>
                    <a:pt x="2100710" y="2079100"/>
                  </a:lnTo>
                  <a:lnTo>
                    <a:pt x="348370" y="2079100"/>
                  </a:lnTo>
                  <a:lnTo>
                    <a:pt x="279625" y="2003461"/>
                  </a:lnTo>
                  <a:cubicBezTo>
                    <a:pt x="104938" y="1791789"/>
                    <a:pt x="0" y="1520419"/>
                    <a:pt x="0" y="1224540"/>
                  </a:cubicBezTo>
                  <a:cubicBezTo>
                    <a:pt x="0" y="548245"/>
                    <a:pt x="548245" y="0"/>
                    <a:pt x="1224540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755AC65C-13EF-4182-AA3C-62BE165CC033}"/>
                </a:ext>
              </a:extLst>
            </p:cNvPr>
            <p:cNvSpPr/>
            <p:nvPr/>
          </p:nvSpPr>
          <p:spPr>
            <a:xfrm>
              <a:off x="-1" y="-1"/>
              <a:ext cx="510196" cy="538336"/>
            </a:xfrm>
            <a:custGeom>
              <a:avLst/>
              <a:gdLst>
                <a:gd name="connsiteX0" fmla="*/ 0 w 510196"/>
                <a:gd name="connsiteY0" fmla="*/ 0 h 538336"/>
                <a:gd name="connsiteX1" fmla="*/ 459276 w 510196"/>
                <a:gd name="connsiteY1" fmla="*/ 0 h 538336"/>
                <a:gd name="connsiteX2" fmla="*/ 482126 w 510196"/>
                <a:gd name="connsiteY2" fmla="*/ 42098 h 538336"/>
                <a:gd name="connsiteX3" fmla="*/ 510196 w 510196"/>
                <a:gd name="connsiteY3" fmla="*/ 181136 h 538336"/>
                <a:gd name="connsiteX4" fmla="*/ 152996 w 510196"/>
                <a:gd name="connsiteY4" fmla="*/ 538336 h 538336"/>
                <a:gd name="connsiteX5" fmla="*/ 13958 w 510196"/>
                <a:gd name="connsiteY5" fmla="*/ 510266 h 538336"/>
                <a:gd name="connsiteX6" fmla="*/ 0 w 510196"/>
                <a:gd name="connsiteY6" fmla="*/ 502690 h 538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0196" h="538336">
                  <a:moveTo>
                    <a:pt x="0" y="0"/>
                  </a:moveTo>
                  <a:lnTo>
                    <a:pt x="459276" y="0"/>
                  </a:lnTo>
                  <a:lnTo>
                    <a:pt x="482126" y="42098"/>
                  </a:lnTo>
                  <a:cubicBezTo>
                    <a:pt x="500201" y="84833"/>
                    <a:pt x="510196" y="131817"/>
                    <a:pt x="510196" y="181136"/>
                  </a:cubicBezTo>
                  <a:cubicBezTo>
                    <a:pt x="510196" y="378412"/>
                    <a:pt x="350272" y="538336"/>
                    <a:pt x="152996" y="538336"/>
                  </a:cubicBezTo>
                  <a:cubicBezTo>
                    <a:pt x="103677" y="538336"/>
                    <a:pt x="56693" y="528341"/>
                    <a:pt x="13958" y="510266"/>
                  </a:cubicBezTo>
                  <a:lnTo>
                    <a:pt x="0" y="50269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E40DA8D2-FA4B-4282-9D44-48C27B63A153}"/>
                </a:ext>
              </a:extLst>
            </p:cNvPr>
            <p:cNvSpPr/>
            <p:nvPr/>
          </p:nvSpPr>
          <p:spPr>
            <a:xfrm>
              <a:off x="10528695" y="1"/>
              <a:ext cx="554074" cy="282754"/>
            </a:xfrm>
            <a:custGeom>
              <a:avLst/>
              <a:gdLst>
                <a:gd name="connsiteX0" fmla="*/ 644 w 309162"/>
                <a:gd name="connsiteY0" fmla="*/ 0 h 157771"/>
                <a:gd name="connsiteX1" fmla="*/ 308518 w 309162"/>
                <a:gd name="connsiteY1" fmla="*/ 0 h 157771"/>
                <a:gd name="connsiteX2" fmla="*/ 309162 w 309162"/>
                <a:gd name="connsiteY2" fmla="*/ 3190 h 157771"/>
                <a:gd name="connsiteX3" fmla="*/ 154581 w 309162"/>
                <a:gd name="connsiteY3" fmla="*/ 157771 h 157771"/>
                <a:gd name="connsiteX4" fmla="*/ 0 w 309162"/>
                <a:gd name="connsiteY4" fmla="*/ 3190 h 157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9162" h="157771">
                  <a:moveTo>
                    <a:pt x="644" y="0"/>
                  </a:moveTo>
                  <a:lnTo>
                    <a:pt x="308518" y="0"/>
                  </a:lnTo>
                  <a:lnTo>
                    <a:pt x="309162" y="3190"/>
                  </a:lnTo>
                  <a:cubicBezTo>
                    <a:pt x="309162" y="88563"/>
                    <a:pt x="239954" y="157771"/>
                    <a:pt x="154581" y="157771"/>
                  </a:cubicBezTo>
                  <a:cubicBezTo>
                    <a:pt x="69208" y="157771"/>
                    <a:pt x="0" y="88563"/>
                    <a:pt x="0" y="319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9065014-CB18-414D-A527-31ECC45700AB}"/>
                </a:ext>
              </a:extLst>
            </p:cNvPr>
            <p:cNvSpPr/>
            <p:nvPr/>
          </p:nvSpPr>
          <p:spPr>
            <a:xfrm>
              <a:off x="504140" y="1132500"/>
              <a:ext cx="84680" cy="846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8F39E27A-56C1-4328-8DF1-2DA147C78483}"/>
                </a:ext>
              </a:extLst>
            </p:cNvPr>
            <p:cNvSpPr/>
            <p:nvPr/>
          </p:nvSpPr>
          <p:spPr>
            <a:xfrm>
              <a:off x="12051348" y="5576515"/>
              <a:ext cx="137603" cy="210490"/>
            </a:xfrm>
            <a:custGeom>
              <a:avLst/>
              <a:gdLst>
                <a:gd name="connsiteX0" fmla="*/ 105245 w 137603"/>
                <a:gd name="connsiteY0" fmla="*/ 0 h 210490"/>
                <a:gd name="connsiteX1" fmla="*/ 137603 w 137603"/>
                <a:gd name="connsiteY1" fmla="*/ 6533 h 210490"/>
                <a:gd name="connsiteX2" fmla="*/ 137603 w 137603"/>
                <a:gd name="connsiteY2" fmla="*/ 203957 h 210490"/>
                <a:gd name="connsiteX3" fmla="*/ 105245 w 137603"/>
                <a:gd name="connsiteY3" fmla="*/ 210490 h 210490"/>
                <a:gd name="connsiteX4" fmla="*/ 0 w 137603"/>
                <a:gd name="connsiteY4" fmla="*/ 105245 h 210490"/>
                <a:gd name="connsiteX5" fmla="*/ 105245 w 137603"/>
                <a:gd name="connsiteY5" fmla="*/ 0 h 210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603" h="210490">
                  <a:moveTo>
                    <a:pt x="105245" y="0"/>
                  </a:moveTo>
                  <a:lnTo>
                    <a:pt x="137603" y="6533"/>
                  </a:lnTo>
                  <a:lnTo>
                    <a:pt x="137603" y="203957"/>
                  </a:lnTo>
                  <a:lnTo>
                    <a:pt x="105245" y="210490"/>
                  </a:lnTo>
                  <a:cubicBezTo>
                    <a:pt x="47120" y="210490"/>
                    <a:pt x="0" y="163370"/>
                    <a:pt x="0" y="105245"/>
                  </a:cubicBezTo>
                  <a:cubicBezTo>
                    <a:pt x="0" y="47120"/>
                    <a:pt x="47120" y="0"/>
                    <a:pt x="105245" y="0"/>
                  </a:cubicBezTo>
                  <a:close/>
                </a:path>
              </a:pathLst>
            </a:cu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C5EC6-E331-4312-AC12-56D55F7D2B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724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8D24A4-5FEC-4062-8995-EB21925B3B40}" type="datetime1">
              <a:rPr lang="en-US" smtClean="0"/>
              <a:t>6/6/2022</a:t>
            </a:fld>
            <a:endParaRPr lang="en-US" sz="10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7FC5D-92B2-4B4D-8111-6EDEF28069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8268"/>
            <a:ext cx="41148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sz="100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A104D-C777-4A6E-8A43-F94028E5E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9315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747434-7036-48DB-A148-6B3D8EE75CDA}" type="slidenum">
              <a:rPr lang="en-US" smtClean="0"/>
              <a:pPr/>
              <a:t>‹#›</a:t>
            </a:fld>
            <a:endParaRPr lang="en-US" sz="1000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D3A74F-6169-4D30-A245-B46D738BE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877E64-7A05-44DA-81FA-6EF4806BBF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25625"/>
            <a:ext cx="1065911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92338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33E0473-C315-42D8-A82A-A2FE49DC67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D23A251-68F2-43E5-812B-4BBAE1AF53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4" name="Picture 3" descr="Computer script on a screen">
            <a:extLst>
              <a:ext uri="{FF2B5EF4-FFF2-40B4-BE49-F238E27FC236}">
                <a16:creationId xmlns:a16="http://schemas.microsoft.com/office/drawing/2014/main" id="{4A0238B8-B70C-1AF5-9FC0-3F5C3767454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40000"/>
          </a:blip>
          <a:srcRect t="6562" r="6" b="9027"/>
          <a:stretch/>
        </p:blipFill>
        <p:spPr>
          <a:xfrm>
            <a:off x="1525" y="10"/>
            <a:ext cx="12188951" cy="6857990"/>
          </a:xfrm>
          <a:prstGeom prst="rect">
            <a:avLst/>
          </a:prstGeom>
        </p:spPr>
      </p:pic>
      <p:grpSp>
        <p:nvGrpSpPr>
          <p:cNvPr id="13" name="decorative circle">
            <a:extLst>
              <a:ext uri="{FF2B5EF4-FFF2-40B4-BE49-F238E27FC236}">
                <a16:creationId xmlns:a16="http://schemas.microsoft.com/office/drawing/2014/main" id="{0350AF23-2606-421F-AB7B-23D9B48F3E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14102" y="236341"/>
            <a:ext cx="11340713" cy="5464029"/>
            <a:chOff x="314102" y="236341"/>
            <a:chExt cx="11340713" cy="5464029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526A544A-3C76-4502-A741-F4DB0E2CD2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760448" y="3803994"/>
              <a:ext cx="94160" cy="94160"/>
            </a:xfrm>
            <a:prstGeom prst="ellipse">
              <a:avLst/>
            </a:prstGeom>
            <a:solidFill>
              <a:srgbClr val="E3BEBE">
                <a:alpha val="2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017B8593-D171-47B5-8D1A-E34E7B1384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14102" y="3044381"/>
              <a:ext cx="226735" cy="226735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FEF60D4-64F6-450F-B86D-383EEA1C84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188374" y="386135"/>
              <a:ext cx="466441" cy="466441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7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97D4A7C-B520-46CB-9A94-711F53997B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065714" y="236341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2B7B976F-E84B-4936-90D7-C8298A5E7B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1535" y="2516671"/>
              <a:ext cx="466441" cy="46644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DC91FFEC-59DF-4D22-A925-F515207692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230142" y="4588038"/>
              <a:ext cx="113367" cy="11336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58931E95-0847-47E4-8AEC-312312A032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02046" y="5394590"/>
              <a:ext cx="305780" cy="30578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C094915-EF93-49A0-9B90-C44FB9B500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408287" y="5160714"/>
              <a:ext cx="113367" cy="113367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62606" y="1122363"/>
            <a:ext cx="7063739" cy="238760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  <a:cs typeface="Calibri Light"/>
              </a:rPr>
              <a:t>KOSS Task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62606" y="3602038"/>
            <a:ext cx="7063739" cy="1655762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>
                <a:solidFill>
                  <a:srgbClr val="FFFFFF"/>
                </a:solidFill>
                <a:cs typeface="Calibri"/>
              </a:rPr>
              <a:t>By Krish</a:t>
            </a:r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A31D9-6293-7531-C308-74165E8DF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git?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A578E0-0DEA-5B95-31BC-82EF595DB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>
                <a:ea typeface="+mn-lt"/>
                <a:cs typeface="+mn-lt"/>
              </a:rPr>
              <a:t>git</a:t>
            </a:r>
            <a:r>
              <a:rPr lang="en-US" dirty="0">
                <a:ea typeface="+mn-lt"/>
                <a:cs typeface="+mn-lt"/>
              </a:rPr>
              <a:t> is a free and open-source distributed version control system designed to handle everything from small to very large projects with speed and efficiency.</a:t>
            </a:r>
          </a:p>
          <a:p>
            <a:pPr>
              <a:buClr>
                <a:srgbClr val="435179"/>
              </a:buClr>
            </a:pPr>
            <a:r>
              <a:rPr lang="en-US" dirty="0">
                <a:ea typeface="+mn-lt"/>
                <a:cs typeface="+mn-lt"/>
              </a:rPr>
              <a:t>It is a software for tracking changes in any set of files, usually used for coordinating work among programmers collaboratively developing source code during software development. </a:t>
            </a:r>
          </a:p>
          <a:p>
            <a:pPr>
              <a:buClr>
                <a:srgbClr val="435179"/>
              </a:buClr>
            </a:pPr>
            <a:r>
              <a:rPr lang="en-US" dirty="0">
                <a:ea typeface="+mn-lt"/>
                <a:cs typeface="+mn-lt"/>
              </a:rPr>
              <a:t>Its goals include speed, data integrity, and support for distributed, non-linear workflows.</a:t>
            </a:r>
            <a:endParaRPr lang="en-US" dirty="0">
              <a:ea typeface="Calibri"/>
              <a:cs typeface="Calibri"/>
            </a:endParaRPr>
          </a:p>
        </p:txBody>
      </p:sp>
      <p:pic>
        <p:nvPicPr>
          <p:cNvPr id="4" name="Picture 4" descr="Logo, icon&#10;&#10;Description automatically generated">
            <a:extLst>
              <a:ext uri="{FF2B5EF4-FFF2-40B4-BE49-F238E27FC236}">
                <a16:creationId xmlns:a16="http://schemas.microsoft.com/office/drawing/2014/main" id="{0381636E-256A-32CC-0445-CF7222A9D4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9387" y="4002803"/>
            <a:ext cx="4793226" cy="201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0272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77DE22-58F5-9245-409A-4A534FD43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2900" y="2550484"/>
            <a:ext cx="10659110" cy="1325563"/>
          </a:xfrm>
        </p:spPr>
        <p:txBody>
          <a:bodyPr/>
          <a:lstStyle/>
          <a:p>
            <a:pPr algn="ctr"/>
            <a:r>
              <a:rPr lang="en-US" dirty="0"/>
              <a:t>Some New Git Commands</a:t>
            </a:r>
          </a:p>
        </p:txBody>
      </p:sp>
    </p:spTree>
    <p:extLst>
      <p:ext uri="{BB962C8B-B14F-4D97-AF65-F5344CB8AC3E}">
        <p14:creationId xmlns:p14="http://schemas.microsoft.com/office/powerpoint/2010/main" val="13085001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FF4B5-F5BE-5439-2DE8-249DC8516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git switch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A9045-C2E2-9C59-26B1-E0555FE264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Calibri"/>
                <a:cs typeface="Calibri"/>
              </a:rPr>
              <a:t>Used to switch to another branch.</a:t>
            </a:r>
          </a:p>
          <a:p>
            <a:pPr>
              <a:buClr>
                <a:srgbClr val="435179"/>
              </a:buClr>
            </a:pPr>
            <a:r>
              <a:rPr lang="en-US" dirty="0">
                <a:ea typeface="Calibri"/>
                <a:cs typeface="Calibri"/>
              </a:rPr>
              <a:t>An alternative to </a:t>
            </a:r>
            <a:r>
              <a:rPr lang="en-US" dirty="0">
                <a:latin typeface="Consolas"/>
                <a:ea typeface="Calibri"/>
                <a:cs typeface="Calibri"/>
              </a:rPr>
              <a:t>git checkout</a:t>
            </a:r>
            <a:r>
              <a:rPr lang="en-US" dirty="0">
                <a:ea typeface="Calibri"/>
                <a:cs typeface="Calibri"/>
              </a:rPr>
              <a:t> to avoid confusion (as </a:t>
            </a:r>
            <a:r>
              <a:rPr lang="en-US" dirty="0">
                <a:latin typeface="Consolas"/>
                <a:ea typeface="Calibri"/>
                <a:cs typeface="Calibri"/>
              </a:rPr>
              <a:t>checkout</a:t>
            </a:r>
            <a:r>
              <a:rPr lang="en-US" dirty="0">
                <a:ea typeface="Calibri"/>
                <a:cs typeface="Calibri"/>
              </a:rPr>
              <a:t> can work on both file and branch level).</a:t>
            </a:r>
          </a:p>
          <a:p>
            <a:pPr>
              <a:buClr>
                <a:srgbClr val="435179"/>
              </a:buClr>
            </a:pPr>
            <a:endParaRPr lang="en-US" dirty="0">
              <a:ea typeface="Calibri"/>
              <a:cs typeface="Calibri"/>
            </a:endParaRPr>
          </a:p>
          <a:p>
            <a:pPr>
              <a:buClr>
                <a:srgbClr val="435179"/>
              </a:buClr>
            </a:pPr>
            <a:endParaRPr lang="en-US" dirty="0">
              <a:ea typeface="Calibri"/>
              <a:cs typeface="Calibri"/>
            </a:endParaRPr>
          </a:p>
          <a:p>
            <a:pPr>
              <a:buClr>
                <a:srgbClr val="435179"/>
              </a:buClr>
            </a:pPr>
            <a:endParaRPr lang="en-US" dirty="0">
              <a:ea typeface="Calibri"/>
              <a:cs typeface="Calibri"/>
            </a:endParaRPr>
          </a:p>
          <a:p>
            <a:pPr>
              <a:buClr>
                <a:srgbClr val="435179"/>
              </a:buClr>
            </a:pPr>
            <a:r>
              <a:rPr lang="en-US" dirty="0">
                <a:ea typeface="Calibri"/>
                <a:cs typeface="Calibri"/>
              </a:rPr>
              <a:t>To go back to the previous branch: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C32CDDEE-7A2F-60F3-9995-11ED9B4858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111" y="3048342"/>
            <a:ext cx="8876070" cy="871928"/>
          </a:xfrm>
          <a:prstGeom prst="rect">
            <a:avLst/>
          </a:prstGeom>
        </p:spPr>
      </p:pic>
      <p:pic>
        <p:nvPicPr>
          <p:cNvPr id="5" name="Picture 5">
            <a:extLst>
              <a:ext uri="{FF2B5EF4-FFF2-40B4-BE49-F238E27FC236}">
                <a16:creationId xmlns:a16="http://schemas.microsoft.com/office/drawing/2014/main" id="{602AC6EC-CF2C-EDB5-1604-1D419ED6E8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1" y="4611791"/>
            <a:ext cx="3453580" cy="633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38894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258FD-DD05-84D3-BAE7-6F9731DE1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git stash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DF2BE-3BB5-60AA-7561-3BD3DEA574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cs typeface="Calibri"/>
              </a:rPr>
              <a:t>Used to stash local</a:t>
            </a:r>
            <a:r>
              <a:rPr lang="en-US" dirty="0">
                <a:ea typeface="+mn-lt"/>
                <a:cs typeface="+mn-lt"/>
              </a:rPr>
              <a:t> changes without git commit or git push.</a:t>
            </a:r>
          </a:p>
          <a:p>
            <a:pPr>
              <a:buClr>
                <a:srgbClr val="435179"/>
              </a:buClr>
            </a:pPr>
            <a:r>
              <a:rPr lang="en-US" dirty="0">
                <a:cs typeface="Calibri"/>
              </a:rPr>
              <a:t>Helps to avoid dirty commits by saving a draft of what you're currently working on.</a:t>
            </a:r>
          </a:p>
          <a:p>
            <a:pPr marL="0" indent="0">
              <a:buNone/>
            </a:pPr>
            <a:endParaRPr lang="en-US" dirty="0">
              <a:latin typeface="Consolas"/>
              <a:cs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A45517-32FB-B239-356C-E536231B3094}"/>
              </a:ext>
            </a:extLst>
          </p:cNvPr>
          <p:cNvSpPr txBox="1"/>
          <p:nvPr/>
        </p:nvSpPr>
        <p:spPr>
          <a:xfrm>
            <a:off x="4724400" y="3200400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4" name="Picture 6" descr="Text&#10;&#10;Description automatically generated">
            <a:extLst>
              <a:ext uri="{FF2B5EF4-FFF2-40B4-BE49-F238E27FC236}">
                <a16:creationId xmlns:a16="http://schemas.microsoft.com/office/drawing/2014/main" id="{C7A689CC-9E62-C4CE-7943-B649AE4AC2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5594" y="2727478"/>
            <a:ext cx="5533103" cy="371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9115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2B466-2FD1-26D3-CCE9-A216C9A69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git bisect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A30-BB1C-90B2-2176-ABFBA97649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The </a:t>
            </a:r>
            <a:r>
              <a:rPr lang="en-US" b="1" dirty="0">
                <a:latin typeface="Consolas"/>
              </a:rPr>
              <a:t>git bisect</a:t>
            </a:r>
            <a:r>
              <a:rPr lang="en-US" b="1" dirty="0">
                <a:ea typeface="+mn-lt"/>
                <a:cs typeface="+mn-lt"/>
              </a:rPr>
              <a:t> </a:t>
            </a:r>
            <a:r>
              <a:rPr lang="en-US" dirty="0">
                <a:ea typeface="+mn-lt"/>
                <a:cs typeface="+mn-lt"/>
              </a:rPr>
              <a:t>command is used to discover the commit that has introduced a bug in the code.</a:t>
            </a:r>
          </a:p>
          <a:p>
            <a:pPr>
              <a:buClr>
                <a:srgbClr val="435179"/>
              </a:buClr>
            </a:pPr>
            <a:r>
              <a:rPr lang="en-US" dirty="0">
                <a:ea typeface="+mn-lt"/>
                <a:cs typeface="+mn-lt"/>
              </a:rPr>
              <a:t>This command uses binary search algorithm.</a:t>
            </a:r>
          </a:p>
          <a:p>
            <a:pPr>
              <a:buClr>
                <a:srgbClr val="435179"/>
              </a:buClr>
            </a:pPr>
            <a:r>
              <a:rPr lang="en-US" dirty="0">
                <a:ea typeface="+mn-lt"/>
                <a:cs typeface="+mn-lt"/>
              </a:rPr>
              <a:t>It helps track down the commit where the code works and the commit where it does not, hence, tracking down the commit that introduced the bug into the code.</a:t>
            </a:r>
          </a:p>
        </p:txBody>
      </p:sp>
      <p:pic>
        <p:nvPicPr>
          <p:cNvPr id="5" name="Picture 5" descr="A picture containing text, clock&#10;&#10;Description automatically generated">
            <a:extLst>
              <a:ext uri="{FF2B5EF4-FFF2-40B4-BE49-F238E27FC236}">
                <a16:creationId xmlns:a16="http://schemas.microsoft.com/office/drawing/2014/main" id="{8C68ADA1-B57A-4EFD-B79F-943CA4183F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3481" y="3739403"/>
            <a:ext cx="6267450" cy="2247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6904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053A0-B567-E455-96D3-ACE5BB9C3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034" y="241860"/>
            <a:ext cx="10659110" cy="1325563"/>
          </a:xfrm>
        </p:spPr>
        <p:txBody>
          <a:bodyPr/>
          <a:lstStyle/>
          <a:p>
            <a:r>
              <a:rPr lang="en-US" dirty="0"/>
              <a:t>Example for git bisect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79AD86-2566-B169-CE72-40F7E431F8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034" y="1332205"/>
            <a:ext cx="10659110" cy="4523402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dirty="0">
                <a:ea typeface="Calibri"/>
                <a:cs typeface="Calibri"/>
              </a:rPr>
              <a:t>assuming the third commit is the bad commit,</a:t>
            </a:r>
            <a:endParaRPr lang="en-US" dirty="0">
              <a:ea typeface="+mn-lt"/>
              <a:cs typeface="+mn-lt"/>
            </a:endParaRPr>
          </a:p>
          <a:p>
            <a:pPr>
              <a:buClr>
                <a:srgbClr val="435179"/>
              </a:buClr>
            </a:pPr>
            <a:endParaRPr lang="en-US" dirty="0">
              <a:ea typeface="Calibri"/>
              <a:cs typeface="Calibri"/>
            </a:endParaRPr>
          </a:p>
          <a:p>
            <a:pPr>
              <a:buClr>
                <a:srgbClr val="435179"/>
              </a:buClr>
            </a:pPr>
            <a:endParaRPr lang="en-US" dirty="0">
              <a:ea typeface="Calibri"/>
              <a:cs typeface="Calibri"/>
            </a:endParaRPr>
          </a:p>
          <a:p>
            <a:pPr>
              <a:buClr>
                <a:srgbClr val="435179"/>
              </a:buClr>
            </a:pPr>
            <a:endParaRPr lang="en-US" dirty="0">
              <a:ea typeface="Calibri"/>
              <a:cs typeface="Calibri"/>
            </a:endParaRPr>
          </a:p>
          <a:p>
            <a:pPr>
              <a:buClr>
                <a:srgbClr val="435179"/>
              </a:buClr>
            </a:pPr>
            <a:endParaRPr lang="en-US" dirty="0">
              <a:ea typeface="Calibri"/>
              <a:cs typeface="Calibri"/>
            </a:endParaRPr>
          </a:p>
          <a:p>
            <a:pPr>
              <a:buClr>
                <a:srgbClr val="435179"/>
              </a:buClr>
            </a:pPr>
            <a:r>
              <a:rPr lang="en-US" dirty="0">
                <a:ea typeface="Calibri"/>
                <a:cs typeface="Calibri"/>
              </a:rPr>
              <a:t>Git selects the commit in the middle of the history (third in this case). As this version is still bugged, we enter</a:t>
            </a:r>
            <a:endParaRPr lang="en-US" dirty="0">
              <a:solidFill>
                <a:srgbClr val="1D2334"/>
              </a:solidFill>
              <a:latin typeface="Calibri"/>
              <a:ea typeface="Calibri"/>
              <a:cs typeface="Calibri"/>
            </a:endParaRPr>
          </a:p>
          <a:p>
            <a:pPr marL="0" indent="0" algn="ctr">
              <a:buClr>
                <a:srgbClr val="435179"/>
              </a:buClr>
              <a:buNone/>
            </a:pPr>
            <a:r>
              <a:rPr lang="en-US" dirty="0">
                <a:solidFill>
                  <a:srgbClr val="1D2334"/>
                </a:solidFill>
                <a:latin typeface="Consolas"/>
                <a:ea typeface="Calibri"/>
                <a:cs typeface="Calibri"/>
              </a:rPr>
              <a:t>$</a:t>
            </a:r>
            <a:r>
              <a:rPr lang="en-US" dirty="0">
                <a:solidFill>
                  <a:srgbClr val="1D2334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dirty="0">
                <a:solidFill>
                  <a:srgbClr val="1D2334"/>
                </a:solidFill>
                <a:latin typeface="Consolas"/>
                <a:ea typeface="Calibri"/>
                <a:cs typeface="Calibri"/>
              </a:rPr>
              <a:t>git bisect bad</a:t>
            </a:r>
            <a:endParaRPr lang="en-US" dirty="0">
              <a:latin typeface="Consolas"/>
              <a:ea typeface="Calibri"/>
              <a:cs typeface="Calibri"/>
            </a:endParaRPr>
          </a:p>
          <a:p>
            <a:pPr>
              <a:buClr>
                <a:srgbClr val="435179"/>
              </a:buClr>
            </a:pPr>
            <a:r>
              <a:rPr lang="en-US" dirty="0">
                <a:latin typeface="Calibri"/>
                <a:ea typeface="Calibri"/>
                <a:cs typeface="Calibri"/>
              </a:rPr>
              <a:t>Now, git selects the commit between first and third, which is second. As this isn't bugged, we enter </a:t>
            </a:r>
            <a:endParaRPr lang="en-US" dirty="0">
              <a:solidFill>
                <a:srgbClr val="1D2334"/>
              </a:solidFill>
              <a:latin typeface="Calibri"/>
              <a:ea typeface="Calibri"/>
              <a:cs typeface="Calibri"/>
            </a:endParaRPr>
          </a:p>
          <a:p>
            <a:pPr marL="0" indent="0" algn="ctr">
              <a:buClr>
                <a:srgbClr val="435179"/>
              </a:buClr>
              <a:buNone/>
            </a:pPr>
            <a:r>
              <a:rPr lang="en-US" dirty="0">
                <a:solidFill>
                  <a:srgbClr val="1D2334"/>
                </a:solidFill>
                <a:latin typeface="Consolas"/>
                <a:ea typeface="Calibri"/>
                <a:cs typeface="Calibri"/>
              </a:rPr>
              <a:t>$</a:t>
            </a:r>
            <a:r>
              <a:rPr lang="en-US" dirty="0">
                <a:solidFill>
                  <a:srgbClr val="1D2334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dirty="0">
                <a:solidFill>
                  <a:srgbClr val="1D2334"/>
                </a:solidFill>
                <a:latin typeface="Consolas"/>
                <a:ea typeface="Calibri"/>
                <a:cs typeface="Calibri"/>
              </a:rPr>
              <a:t>git bisect good</a:t>
            </a:r>
            <a:endParaRPr lang="en-US" dirty="0">
              <a:latin typeface="Consolas"/>
              <a:ea typeface="Calibri"/>
              <a:cs typeface="Calibri"/>
            </a:endParaRPr>
          </a:p>
          <a:p>
            <a:pPr>
              <a:buClr>
                <a:srgbClr val="435179"/>
              </a:buClr>
            </a:pPr>
            <a:r>
              <a:rPr lang="en-US" dirty="0">
                <a:latin typeface="Calibri"/>
                <a:ea typeface="Calibri"/>
                <a:cs typeface="Calibri"/>
              </a:rPr>
              <a:t>As there isn't any version between second and third, the command prints out the description of the bad (third) commit.</a:t>
            </a:r>
          </a:p>
          <a:p>
            <a:pPr>
              <a:buClr>
                <a:srgbClr val="435179"/>
              </a:buClr>
            </a:pPr>
            <a:endParaRPr lang="en-US" dirty="0">
              <a:ea typeface="Calibri"/>
              <a:cs typeface="Calibri"/>
            </a:endParaRP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1AA5DEDE-0FF1-F7E9-8E76-B0F9B03B7F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2671" y="1639108"/>
            <a:ext cx="6196781" cy="1467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8107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0D305-C0DB-576C-0BA6-B67AF2CB1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git </a:t>
            </a:r>
            <a:r>
              <a:rPr lang="en-US" dirty="0" err="1">
                <a:ea typeface="+mj-lt"/>
                <a:cs typeface="+mj-lt"/>
              </a:rPr>
              <a:t>reflog</a:t>
            </a:r>
            <a:endParaRPr lang="en-US" dirty="0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D9C4C-80E6-3825-3A15-21CB666D2D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Calibri"/>
                <a:cs typeface="Calibri"/>
              </a:rPr>
              <a:t>It is </a:t>
            </a:r>
            <a:r>
              <a:rPr lang="en-US">
                <a:latin typeface="Calibri"/>
                <a:cs typeface="Calibri"/>
              </a:rPr>
              <a:t>similar to </a:t>
            </a:r>
            <a:r>
              <a:rPr lang="en-US">
                <a:latin typeface="Consolas"/>
              </a:rPr>
              <a:t>log </a:t>
            </a:r>
            <a:r>
              <a:rPr lang="en-US">
                <a:latin typeface="Calibri"/>
                <a:cs typeface="Calibri"/>
              </a:rPr>
              <a:t>but</a:t>
            </a:r>
            <a:r>
              <a:rPr lang="en-US" dirty="0">
                <a:ea typeface="+mn-lt"/>
                <a:cs typeface="+mn-lt"/>
              </a:rPr>
              <a:t> can also used for commands that don't show up in your commit history.</a:t>
            </a:r>
            <a:endParaRPr lang="en-US" dirty="0">
              <a:latin typeface="Consolas"/>
            </a:endParaRPr>
          </a:p>
          <a:p>
            <a:pPr>
              <a:buClr>
                <a:srgbClr val="435179"/>
              </a:buClr>
            </a:pPr>
            <a:r>
              <a:rPr lang="en-US">
                <a:latin typeface="Consolas"/>
              </a:rPr>
              <a:t>reflog</a:t>
            </a:r>
            <a:r>
              <a:rPr lang="en-US">
                <a:ea typeface="+mn-lt"/>
                <a:cs typeface="+mn-lt"/>
              </a:rPr>
              <a:t> is basically your safety net after running "scary" commands like </a:t>
            </a:r>
            <a:r>
              <a:rPr lang="en-US" dirty="0">
                <a:latin typeface="Consolas"/>
              </a:rPr>
              <a:t>git rebase</a:t>
            </a:r>
            <a:r>
              <a:rPr lang="en-US" dirty="0">
                <a:ea typeface="+mn-lt"/>
                <a:cs typeface="+mn-lt"/>
              </a:rPr>
              <a:t>.</a:t>
            </a:r>
          </a:p>
          <a:p>
            <a:pPr>
              <a:buClr>
                <a:srgbClr val="435179"/>
              </a:buClr>
            </a:pPr>
            <a:r>
              <a:rPr lang="en-US">
                <a:ea typeface="+mn-lt"/>
                <a:cs typeface="+mn-lt"/>
              </a:rPr>
              <a:t>You'll be </a:t>
            </a:r>
            <a:r>
              <a:rPr lang="en-US" dirty="0">
                <a:ea typeface="+mn-lt"/>
                <a:cs typeface="+mn-lt"/>
              </a:rPr>
              <a:t>able to see not only the commits you made, but each of the actions that led you there</a:t>
            </a:r>
            <a:endParaRPr lang="en-US">
              <a:cs typeface="Calibri"/>
            </a:endParaRP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9EEBE5D3-E3C9-2E15-4577-03729C2DB6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1150" y="3030025"/>
            <a:ext cx="5354279" cy="3206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2377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54E4E-6780-3683-47D7-B1FE2DEB3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git diff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DB6E83-67BB-A84A-818A-BC6BC8EFE6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ea typeface="Calibri"/>
                <a:cs typeface="Calibri"/>
              </a:rPr>
              <a:t>Used to see differences between:</a:t>
            </a:r>
          </a:p>
          <a:p>
            <a:pPr>
              <a:buClr>
                <a:srgbClr val="435179"/>
              </a:buClr>
            </a:pPr>
            <a:r>
              <a:rPr lang="en-US" dirty="0">
                <a:ea typeface="Calibri"/>
                <a:cs typeface="Calibri"/>
              </a:rPr>
              <a:t>Branches</a:t>
            </a:r>
          </a:p>
          <a:p>
            <a:pPr>
              <a:buClr>
                <a:srgbClr val="435179"/>
              </a:buClr>
            </a:pPr>
            <a:endParaRPr lang="en-US" dirty="0">
              <a:ea typeface="Calibri"/>
              <a:cs typeface="Calibri"/>
            </a:endParaRPr>
          </a:p>
          <a:p>
            <a:pPr>
              <a:buClr>
                <a:srgbClr val="435179"/>
              </a:buClr>
            </a:pPr>
            <a:endParaRPr lang="en-US" dirty="0">
              <a:ea typeface="Calibri"/>
              <a:cs typeface="Calibri"/>
            </a:endParaRPr>
          </a:p>
          <a:p>
            <a:pPr>
              <a:buClr>
                <a:srgbClr val="435179"/>
              </a:buClr>
            </a:pPr>
            <a:endParaRPr lang="en-US">
              <a:ea typeface="Calibri"/>
              <a:cs typeface="Calibri"/>
            </a:endParaRPr>
          </a:p>
          <a:p>
            <a:pPr>
              <a:buClr>
                <a:srgbClr val="435179"/>
              </a:buClr>
            </a:pPr>
            <a:r>
              <a:rPr lang="en-US" dirty="0">
                <a:ea typeface="Calibri"/>
                <a:cs typeface="Calibri"/>
              </a:rPr>
              <a:t>staged (or </a:t>
            </a:r>
            <a:r>
              <a:rPr lang="en-US" dirty="0" err="1">
                <a:ea typeface="Calibri"/>
                <a:cs typeface="Calibri"/>
              </a:rPr>
              <a:t>unstaged</a:t>
            </a:r>
            <a:r>
              <a:rPr lang="en-US" dirty="0">
                <a:ea typeface="Calibri"/>
                <a:cs typeface="Calibri"/>
              </a:rPr>
              <a:t>) changes.</a:t>
            </a:r>
          </a:p>
          <a:p>
            <a:pPr>
              <a:buClr>
                <a:srgbClr val="435179"/>
              </a:buClr>
            </a:pPr>
            <a:endParaRPr lang="en-US" dirty="0">
              <a:latin typeface="Consolas"/>
              <a:ea typeface="Calibri"/>
              <a:cs typeface="Calibri"/>
            </a:endParaRPr>
          </a:p>
          <a:p>
            <a:pPr>
              <a:buClr>
                <a:srgbClr val="435179"/>
              </a:buClr>
            </a:pPr>
            <a:endParaRPr lang="en-US" dirty="0">
              <a:latin typeface="Consolas"/>
              <a:ea typeface="Calibri"/>
              <a:cs typeface="Calibri"/>
            </a:endParaRP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F8C3D272-8259-3F35-CB7E-CE333FBEE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62" y="4452793"/>
            <a:ext cx="8888361" cy="1184768"/>
          </a:xfrm>
          <a:prstGeom prst="rect">
            <a:avLst/>
          </a:prstGeom>
        </p:spPr>
      </p:pic>
      <p:pic>
        <p:nvPicPr>
          <p:cNvPr id="5" name="Picture 5" descr="Logo&#10;&#10;Description automatically generated">
            <a:extLst>
              <a:ext uri="{FF2B5EF4-FFF2-40B4-BE49-F238E27FC236}">
                <a16:creationId xmlns:a16="http://schemas.microsoft.com/office/drawing/2014/main" id="{F0A683FA-6844-7296-4C01-2B9263CF07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5563" y="2709050"/>
            <a:ext cx="5803490" cy="714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6350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BDA8B-9D21-F883-B785-D369F1807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git rebase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B01B64-378D-9F27-5F10-C3A95FDB27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Has a reputation for being magical Git voodoo that beginners should stay away </a:t>
            </a:r>
            <a:r>
              <a:rPr lang="en-US">
                <a:ea typeface="+mn-lt"/>
                <a:cs typeface="+mn-lt"/>
              </a:rPr>
              <a:t>from.</a:t>
            </a:r>
            <a:endParaRPr lang="en-US" dirty="0">
              <a:cs typeface="Calibri"/>
            </a:endParaRPr>
          </a:p>
          <a:p>
            <a:pPr>
              <a:buClr>
                <a:srgbClr val="435179"/>
              </a:buClr>
            </a:pPr>
            <a:r>
              <a:rPr lang="en-US" dirty="0">
                <a:cs typeface="Calibri"/>
              </a:rPr>
              <a:t>It can be used as an alternative to git merge.</a:t>
            </a:r>
          </a:p>
          <a:p>
            <a:pPr>
              <a:buClr>
                <a:srgbClr val="435179"/>
              </a:buClr>
            </a:pPr>
            <a:r>
              <a:rPr lang="en-US" dirty="0">
                <a:cs typeface="Calibri"/>
              </a:rPr>
              <a:t>Reapplies commits on top of another base tip.</a:t>
            </a:r>
          </a:p>
          <a:p>
            <a:pPr>
              <a:buClr>
                <a:srgbClr val="435179"/>
              </a:buClr>
            </a:pPr>
            <a:r>
              <a:rPr lang="en-US" dirty="0">
                <a:cs typeface="Calibri"/>
              </a:rPr>
              <a:t>Can be used if you prefer </a:t>
            </a:r>
            <a:r>
              <a:rPr lang="en-US" b="1" dirty="0">
                <a:ea typeface="+mn-lt"/>
                <a:cs typeface="+mn-lt"/>
              </a:rPr>
              <a:t>a clean, linear history free of unnecessary merge commits.</a:t>
            </a:r>
            <a:endParaRPr lang="en-US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656223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07C46-7D73-C699-3829-5FCCD6C55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vs rebase</a:t>
            </a:r>
          </a:p>
        </p:txBody>
      </p:sp>
      <p:pic>
        <p:nvPicPr>
          <p:cNvPr id="4" name="Graphic 4">
            <a:extLst>
              <a:ext uri="{FF2B5EF4-FFF2-40B4-BE49-F238E27FC236}">
                <a16:creationId xmlns:a16="http://schemas.microsoft.com/office/drawing/2014/main" id="{AF9136F3-1206-34A4-217F-D5A5B43DDFD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1397" y="1600782"/>
            <a:ext cx="5437568" cy="3663081"/>
          </a:xfrm>
        </p:spPr>
      </p:pic>
      <p:pic>
        <p:nvPicPr>
          <p:cNvPr id="5" name="Graphic 5">
            <a:extLst>
              <a:ext uri="{FF2B5EF4-FFF2-40B4-BE49-F238E27FC236}">
                <a16:creationId xmlns:a16="http://schemas.microsoft.com/office/drawing/2014/main" id="{65A14C7D-905C-ABBE-B1E3-5B4C335556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19583" y="1684518"/>
            <a:ext cx="5422490" cy="36631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0085016-2BBC-F65D-6373-863649BCD3FB}"/>
              </a:ext>
            </a:extLst>
          </p:cNvPr>
          <p:cNvSpPr txBox="1"/>
          <p:nvPr/>
        </p:nvSpPr>
        <p:spPr>
          <a:xfrm>
            <a:off x="956421" y="5752539"/>
            <a:ext cx="10273552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400" b="1" i="1" dirty="0"/>
              <a:t>Generally, </a:t>
            </a:r>
            <a:r>
              <a:rPr lang="en-US" sz="2400" b="1" i="1" dirty="0">
                <a:ea typeface="+mn-lt"/>
                <a:cs typeface="+mn-lt"/>
              </a:rPr>
              <a:t>you should merge to main branch and rebase the feature branches.</a:t>
            </a:r>
          </a:p>
        </p:txBody>
      </p:sp>
    </p:spTree>
    <p:extLst>
      <p:ext uri="{BB962C8B-B14F-4D97-AF65-F5344CB8AC3E}">
        <p14:creationId xmlns:p14="http://schemas.microsoft.com/office/powerpoint/2010/main" val="2535101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9EE8C-5232-11B6-267D-A8BB9C488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 cherry-pick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EACA7-9FA1-15B3-0438-3E2FCEACB2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1825625"/>
            <a:ext cx="10659110" cy="478836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Calibri"/>
                <a:cs typeface="Calibri"/>
              </a:rPr>
              <a:t>Used to pick changes from another branch and then apply to our branch.</a:t>
            </a:r>
          </a:p>
          <a:p>
            <a:pPr>
              <a:buClr>
                <a:srgbClr val="435179"/>
              </a:buClr>
            </a:pPr>
            <a:r>
              <a:rPr lang="en-US" dirty="0" err="1">
                <a:ea typeface="Calibri"/>
                <a:cs typeface="Calibri"/>
              </a:rPr>
              <a:t>eg.</a:t>
            </a:r>
            <a:r>
              <a:rPr lang="en-US" dirty="0">
                <a:ea typeface="Calibri"/>
                <a:cs typeface="Calibri"/>
              </a:rPr>
              <a:t> When in the feature branch, enter:</a:t>
            </a:r>
          </a:p>
          <a:p>
            <a:pPr marL="0" indent="0" algn="ctr">
              <a:buClr>
                <a:srgbClr val="435179"/>
              </a:buClr>
              <a:buNone/>
            </a:pPr>
            <a:r>
              <a:rPr lang="en-US" dirty="0">
                <a:latin typeface="Consolas"/>
                <a:ea typeface="Calibri"/>
                <a:cs typeface="Calibri"/>
              </a:rPr>
              <a:t>$ git cherry-pick D</a:t>
            </a:r>
          </a:p>
          <a:p>
            <a:pPr marL="0" indent="0" algn="ctr">
              <a:buNone/>
            </a:pPr>
            <a:endParaRPr lang="en-US" dirty="0">
              <a:latin typeface="Consolas"/>
              <a:ea typeface="Calibri"/>
              <a:cs typeface="Calibri"/>
            </a:endParaRPr>
          </a:p>
          <a:p>
            <a:pPr marL="0" indent="0">
              <a:buNone/>
            </a:pPr>
            <a:endParaRPr lang="en-US" dirty="0">
              <a:latin typeface="Consolas"/>
              <a:ea typeface="Calibri"/>
              <a:cs typeface="Calibri"/>
            </a:endParaRPr>
          </a:p>
          <a:p>
            <a:pPr marL="0" indent="0">
              <a:buNone/>
            </a:pPr>
            <a:endParaRPr lang="en-US" dirty="0">
              <a:latin typeface="Consolas"/>
              <a:ea typeface="Calibri"/>
              <a:cs typeface="Calibri"/>
            </a:endParaRPr>
          </a:p>
          <a:p>
            <a:pPr marL="0" indent="0">
              <a:buNone/>
            </a:pPr>
            <a:endParaRPr lang="en-US" dirty="0">
              <a:latin typeface="Consolas"/>
              <a:ea typeface="Calibri"/>
              <a:cs typeface="Calibri"/>
            </a:endParaRPr>
          </a:p>
          <a:p>
            <a:pPr marL="0" indent="0">
              <a:buNone/>
            </a:pPr>
            <a:endParaRPr lang="en-US" dirty="0">
              <a:latin typeface="Consolas"/>
              <a:ea typeface="Calibri"/>
              <a:cs typeface="Calibri"/>
            </a:endParaRPr>
          </a:p>
          <a:p>
            <a:pPr marL="0" indent="0">
              <a:buNone/>
            </a:pPr>
            <a:endParaRPr lang="en-US" dirty="0">
              <a:latin typeface="Consolas"/>
              <a:ea typeface="Calibri"/>
              <a:cs typeface="Calibri"/>
            </a:endParaRPr>
          </a:p>
          <a:p>
            <a:pPr marL="0" indent="0">
              <a:buNone/>
            </a:pPr>
            <a:endParaRPr lang="en-US" dirty="0">
              <a:latin typeface="Consolas"/>
              <a:ea typeface="Calibri"/>
              <a:cs typeface="Calibri"/>
            </a:endParaRPr>
          </a:p>
          <a:p>
            <a:r>
              <a:rPr lang="en-US" dirty="0">
                <a:latin typeface="Calibri"/>
                <a:ea typeface="Calibri"/>
                <a:cs typeface="Calibri"/>
              </a:rPr>
              <a:t>The D commit (from master) is cherry picked into our feature branch.</a:t>
            </a:r>
          </a:p>
        </p:txBody>
      </p:sp>
      <p:pic>
        <p:nvPicPr>
          <p:cNvPr id="4" name="Picture 4" descr="Diagram&#10;&#10;Description automatically generated">
            <a:extLst>
              <a:ext uri="{FF2B5EF4-FFF2-40B4-BE49-F238E27FC236}">
                <a16:creationId xmlns:a16="http://schemas.microsoft.com/office/drawing/2014/main" id="{D53647B8-0E5B-E006-0EDB-9877A839F2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9705" y="3042397"/>
            <a:ext cx="57150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5419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D999-A8C5-C8E5-4191-746BF61A2A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034" y="2628713"/>
            <a:ext cx="10659110" cy="1325563"/>
          </a:xfrm>
        </p:spPr>
        <p:txBody>
          <a:bodyPr/>
          <a:lstStyle/>
          <a:p>
            <a:pPr algn="ctr"/>
            <a:r>
              <a:rPr lang="en-US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3221781547"/>
      </p:ext>
    </p:extLst>
  </p:cSld>
  <p:clrMapOvr>
    <a:masterClrMapping/>
  </p:clrMapOvr>
</p:sld>
</file>

<file path=ppt/theme/theme1.xml><?xml version="1.0" encoding="utf-8"?>
<a:theme xmlns:a="http://schemas.openxmlformats.org/drawingml/2006/main" name="ConfettiVTI">
  <a:themeElements>
    <a:clrScheme name="AnalogousFromDarkSeedLeftStep">
      <a:dk1>
        <a:srgbClr val="000000"/>
      </a:dk1>
      <a:lt1>
        <a:srgbClr val="FFFFFF"/>
      </a:lt1>
      <a:dk2>
        <a:srgbClr val="1D2334"/>
      </a:dk2>
      <a:lt2>
        <a:srgbClr val="E3E8E2"/>
      </a:lt2>
      <a:accent1>
        <a:srgbClr val="B93FD1"/>
      </a:accent1>
      <a:accent2>
        <a:srgbClr val="6A2DBF"/>
      </a:accent2>
      <a:accent3>
        <a:srgbClr val="3F3FD1"/>
      </a:accent3>
      <a:accent4>
        <a:srgbClr val="2D6ABF"/>
      </a:accent4>
      <a:accent5>
        <a:srgbClr val="3CAFC6"/>
      </a:accent5>
      <a:accent6>
        <a:srgbClr val="2BB693"/>
      </a:accent6>
      <a:hlink>
        <a:srgbClr val="3B8AB2"/>
      </a:hlink>
      <a:folHlink>
        <a:srgbClr val="7F7F7F"/>
      </a:folHlink>
    </a:clrScheme>
    <a:fontScheme name="Custom 10">
      <a:majorFont>
        <a:latin typeface="Gill Sans Nova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nfettiVTI" id="{B5618F7C-B4F0-4D28-83B4-440D0519681F}" vid="{5F84EFDF-E14E-48C6-955C-990A32085A7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13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ConfettiVTI</vt:lpstr>
      <vt:lpstr>KOSS Task</vt:lpstr>
      <vt:lpstr>What is git?</vt:lpstr>
      <vt:lpstr>Some New Git Commands</vt:lpstr>
      <vt:lpstr>git switch</vt:lpstr>
      <vt:lpstr>git stash</vt:lpstr>
      <vt:lpstr>git bisect</vt:lpstr>
      <vt:lpstr>Example for git bisect</vt:lpstr>
      <vt:lpstr>git reflog</vt:lpstr>
      <vt:lpstr>git diff</vt:lpstr>
      <vt:lpstr>git rebase</vt:lpstr>
      <vt:lpstr>merge vs rebase</vt:lpstr>
      <vt:lpstr>git cherry-pick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/>
  <cp:revision>331</cp:revision>
  <dcterms:created xsi:type="dcterms:W3CDTF">2022-06-04T09:50:24Z</dcterms:created>
  <dcterms:modified xsi:type="dcterms:W3CDTF">2022-06-06T13:17:53Z</dcterms:modified>
</cp:coreProperties>
</file>