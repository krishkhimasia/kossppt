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sldIdLst>
    <p:sldId id="256" r:id="rId2"/>
    <p:sldId id="269" r:id="rId3"/>
    <p:sldId id="257" r:id="rId4"/>
    <p:sldId id="267" r:id="rId5"/>
    <p:sldId id="262" r:id="rId6"/>
    <p:sldId id="258" r:id="rId7"/>
    <p:sldId id="259" r:id="rId8"/>
    <p:sldId id="266" r:id="rId9"/>
    <p:sldId id="260" r:id="rId10"/>
    <p:sldId id="261" r:id="rId11"/>
    <p:sldId id="264" r:id="rId12"/>
    <p:sldId id="263" r:id="rId13"/>
    <p:sldId id="265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AD38D4-7028-1C94-030C-4669991A619F}" v="393" dt="2022-06-04T14:28:24.742"/>
    <p1510:client id="{2AB2C1D1-D3B8-4B7B-5A6F-B67ABB2A7F03}" v="234" dt="2022-06-06T13:53:00.120"/>
    <p1510:client id="{3D06D605-1B1F-4242-9601-2908E09308C1}" v="100" dt="2022-06-04T09:54:16.693"/>
    <p1510:client id="{7C7FC2E7-44C6-B147-3CEF-AD9606E00CB4}" v="228" dt="2022-06-04T11:20:38.600"/>
    <p1510:client id="{86308819-B1B8-79C4-BD29-08385CD7DCB9}" v="14" dt="2022-06-07T05:29:39.636"/>
    <p1510:client id="{9B9B9905-108E-A374-303B-B1B0F50D54D7}" v="32" dt="2022-06-04T14:40:49.710"/>
    <p1510:client id="{A4FC2AE1-B8EC-4CD0-F151-F6613E8C8AFD}" v="184" dt="2022-06-04T12:36:52.835"/>
    <p1510:client id="{AB2C8DD0-C60F-6AE0-5999-31E76E0E2484}" v="16" dt="2022-06-06T12:34:25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6/6/2022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119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66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8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4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8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855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08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87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175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6/6/2022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2338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3E0473-C315-42D8-A82A-A2FE49DC6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23A251-68F2-43E5-812B-4BBAE1A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Picture 3" descr="Computer script on a screen">
            <a:extLst>
              <a:ext uri="{FF2B5EF4-FFF2-40B4-BE49-F238E27FC236}">
                <a16:creationId xmlns:a16="http://schemas.microsoft.com/office/drawing/2014/main" id="{4A0238B8-B70C-1AF5-9FC0-3F5C3767454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6562" r="6" b="9027"/>
          <a:stretch/>
        </p:blipFill>
        <p:spPr>
          <a:xfrm>
            <a:off x="1525" y="10"/>
            <a:ext cx="12188951" cy="6857990"/>
          </a:xfrm>
          <a:prstGeom prst="rect">
            <a:avLst/>
          </a:prstGeom>
        </p:spPr>
      </p:pic>
      <p:grpSp>
        <p:nvGrpSpPr>
          <p:cNvPr id="13" name="decorative circle">
            <a:extLst>
              <a:ext uri="{FF2B5EF4-FFF2-40B4-BE49-F238E27FC236}">
                <a16:creationId xmlns:a16="http://schemas.microsoft.com/office/drawing/2014/main" id="{0350AF23-2606-421F-AB7B-23D9B48F3E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4102" y="236341"/>
            <a:ext cx="11340713" cy="5464029"/>
            <a:chOff x="314102" y="236341"/>
            <a:chExt cx="11340713" cy="546402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448" y="38039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4102" y="304438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1535" y="2516671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30142" y="458803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02046" y="539459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08287" y="516071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606" y="1122363"/>
            <a:ext cx="7063739" cy="2387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cs typeface="Calibri Light"/>
              </a:rPr>
              <a:t>KOSS Task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606" y="3602038"/>
            <a:ext cx="7063739" cy="165576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solidFill>
                  <a:srgbClr val="FFFFFF"/>
                </a:solidFill>
                <a:cs typeface="Calibri"/>
              </a:rPr>
              <a:t>By Krish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3FFE4-5F7C-E530-3754-EC8F83028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474" y="3428065"/>
            <a:ext cx="1065911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5400" dirty="0">
                <a:ea typeface="Calibri"/>
                <a:cs typeface="Calibri"/>
              </a:rPr>
              <a:t>What does "git" stand for?</a:t>
            </a: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97F3D763-FFC8-7341-37B0-9E8EC81728FB}"/>
              </a:ext>
            </a:extLst>
          </p:cNvPr>
          <p:cNvSpPr txBox="1"/>
          <p:nvPr/>
        </p:nvSpPr>
        <p:spPr>
          <a:xfrm>
            <a:off x="735106" y="4533899"/>
            <a:ext cx="8727139" cy="156966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>
                <a:latin typeface="Gill Sans Nova"/>
                <a:ea typeface="Gulim"/>
              </a:rPr>
              <a:t> Global Information Tracker</a:t>
            </a:r>
          </a:p>
          <a:p>
            <a:r>
              <a:rPr lang="en-US" sz="4800" dirty="0">
                <a:latin typeface="Gill Sans Nova"/>
                <a:ea typeface="Gulim"/>
              </a:rPr>
              <a:t>(when it </a:t>
            </a:r>
            <a:r>
              <a:rPr lang="en-US" sz="4800">
                <a:latin typeface="Gill Sans Nova"/>
                <a:ea typeface="Gulim"/>
              </a:rPr>
              <a:t>actually works)</a:t>
            </a:r>
            <a:endParaRPr lang="en-US" sz="4800" dirty="0">
              <a:latin typeface="Gill Sans Nova"/>
              <a:ea typeface="Gulim"/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18015D88-3D65-32A3-89A2-BB1104A64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976" y="480733"/>
            <a:ext cx="3907489" cy="21649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8E3D5C-CABB-F3E8-91A9-AF8170699E1F}"/>
              </a:ext>
            </a:extLst>
          </p:cNvPr>
          <p:cNvSpPr txBox="1"/>
          <p:nvPr/>
        </p:nvSpPr>
        <p:spPr>
          <a:xfrm>
            <a:off x="544607" y="735107"/>
            <a:ext cx="6922992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>
                <a:latin typeface="Consolas"/>
              </a:rPr>
              <a:t>"git" can mean anything, depending on your mood.</a:t>
            </a:r>
          </a:p>
          <a:p>
            <a:r>
              <a:rPr lang="en-US" sz="2800" dirty="0">
                <a:latin typeface="Consolas"/>
              </a:rPr>
              <a:t>                  - Linus Torvalds</a:t>
            </a:r>
          </a:p>
        </p:txBody>
      </p:sp>
    </p:spTree>
    <p:extLst>
      <p:ext uri="{BB962C8B-B14F-4D97-AF65-F5344CB8AC3E}">
        <p14:creationId xmlns:p14="http://schemas.microsoft.com/office/powerpoint/2010/main" val="2662419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31D9-6293-7531-C308-74165E8DF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578E0-0DEA-5B95-31BC-82EF595DB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git</a:t>
            </a:r>
            <a:r>
              <a:rPr lang="en-US" dirty="0">
                <a:ea typeface="+mn-lt"/>
                <a:cs typeface="+mn-lt"/>
              </a:rPr>
              <a:t> is a free and open-source distributed version control system designed to handle everything from small to very large projects with speed and efficiency.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 is a software for tracking changes in any set of files, usually used for coordinating work among programmers collaboratively developing source code during software development. 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Its goals include speed, data integrity, and support for distributed, non-linear workflows.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 descr="Logo, icon&#10;&#10;Description automatically generated">
            <a:extLst>
              <a:ext uri="{FF2B5EF4-FFF2-40B4-BE49-F238E27FC236}">
                <a16:creationId xmlns:a16="http://schemas.microsoft.com/office/drawing/2014/main" id="{0381636E-256A-32CC-0445-CF7222A9D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87" y="4002803"/>
            <a:ext cx="4793226" cy="201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27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7DE22-58F5-9245-409A-4A534FD43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900" y="2550484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Some New Git Commands</a:t>
            </a:r>
          </a:p>
        </p:txBody>
      </p:sp>
    </p:spTree>
    <p:extLst>
      <p:ext uri="{BB962C8B-B14F-4D97-AF65-F5344CB8AC3E}">
        <p14:creationId xmlns:p14="http://schemas.microsoft.com/office/powerpoint/2010/main" val="1308500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F4B5-F5BE-5439-2DE8-249DC851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switch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045-C2E2-9C59-26B1-E0555FE26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switch to another branch.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An alternative to </a:t>
            </a:r>
            <a:r>
              <a:rPr lang="en-US" dirty="0">
                <a:latin typeface="Consolas"/>
                <a:ea typeface="Calibri"/>
                <a:cs typeface="Calibri"/>
              </a:rPr>
              <a:t>git checkout</a:t>
            </a:r>
            <a:r>
              <a:rPr lang="en-US" dirty="0">
                <a:ea typeface="Calibri"/>
                <a:cs typeface="Calibri"/>
              </a:rPr>
              <a:t> to avoid confusion (as </a:t>
            </a:r>
            <a:r>
              <a:rPr lang="en-US" dirty="0">
                <a:latin typeface="Consolas"/>
                <a:ea typeface="Calibri"/>
                <a:cs typeface="Calibri"/>
              </a:rPr>
              <a:t>checkout</a:t>
            </a:r>
            <a:r>
              <a:rPr lang="en-US" dirty="0">
                <a:ea typeface="Calibri"/>
                <a:cs typeface="Calibri"/>
              </a:rPr>
              <a:t> can work on both file and branch level).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To go back to the previous branch: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32CDDEE-7A2F-60F3-9995-11ED9B485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11" y="3048342"/>
            <a:ext cx="8876070" cy="871928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602AC6EC-CF2C-EDB5-1604-1D419ED6E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1" y="4611791"/>
            <a:ext cx="3453580" cy="63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889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58FD-DD05-84D3-BAE7-6F9731DE1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stash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DF2BE-3BB5-60AA-7561-3BD3DEA57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Used to stash local</a:t>
            </a:r>
            <a:r>
              <a:rPr lang="en-US" dirty="0">
                <a:ea typeface="+mn-lt"/>
                <a:cs typeface="+mn-lt"/>
              </a:rPr>
              <a:t> changes without git commit or git push.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Helps to avoid dirty commits by saving a draft of what you're currently working on.</a:t>
            </a:r>
          </a:p>
          <a:p>
            <a:pPr marL="0" indent="0">
              <a:buNone/>
            </a:pPr>
            <a:endParaRPr lang="en-US" dirty="0">
              <a:latin typeface="Consolas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45517-32FB-B239-356C-E536231B3094}"/>
              </a:ext>
            </a:extLst>
          </p:cNvPr>
          <p:cNvSpPr txBox="1"/>
          <p:nvPr/>
        </p:nvSpPr>
        <p:spPr>
          <a:xfrm>
            <a:off x="4724400" y="3200400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4" name="Picture 6" descr="Text&#10;&#10;Description automatically generated">
            <a:extLst>
              <a:ext uri="{FF2B5EF4-FFF2-40B4-BE49-F238E27FC236}">
                <a16:creationId xmlns:a16="http://schemas.microsoft.com/office/drawing/2014/main" id="{C7A689CC-9E62-C4CE-7943-B649AE4A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594" y="2727478"/>
            <a:ext cx="5533103" cy="371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11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2B466-2FD1-26D3-CCE9-A216C9A69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bisect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A30-BB1C-90B2-2176-ABFBA9764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 </a:t>
            </a:r>
            <a:r>
              <a:rPr lang="en-US" b="1" dirty="0">
                <a:latin typeface="Consolas"/>
              </a:rPr>
              <a:t>git bisect</a:t>
            </a:r>
            <a:r>
              <a:rPr lang="en-US" b="1" dirty="0">
                <a:ea typeface="+mn-lt"/>
                <a:cs typeface="+mn-lt"/>
              </a:rPr>
              <a:t> </a:t>
            </a:r>
            <a:r>
              <a:rPr lang="en-US" dirty="0">
                <a:ea typeface="+mn-lt"/>
                <a:cs typeface="+mn-lt"/>
              </a:rPr>
              <a:t>command is used to discover the commit that has introduced a bug in the code.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This command uses binary search algorithm.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 helps track down the commit where the code works and the commit where it does not, hence, tracking down the commit that introduced the bug into the code.</a:t>
            </a:r>
          </a:p>
        </p:txBody>
      </p:sp>
      <p:pic>
        <p:nvPicPr>
          <p:cNvPr id="5" name="Picture 5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8C68ADA1-B57A-4EFD-B79F-943CA4183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481" y="3739403"/>
            <a:ext cx="626745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0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053A0-B567-E455-96D3-ACE5BB9C3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41860"/>
            <a:ext cx="10659110" cy="1325563"/>
          </a:xfrm>
        </p:spPr>
        <p:txBody>
          <a:bodyPr/>
          <a:lstStyle/>
          <a:p>
            <a:r>
              <a:rPr lang="en-US" dirty="0"/>
              <a:t>Example for git bisect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9AD86-2566-B169-CE72-40F7E431F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034" y="1332205"/>
            <a:ext cx="10659110" cy="452340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Calibri"/>
                <a:cs typeface="Calibri"/>
              </a:rPr>
              <a:t>assuming the third commit is the bad commit,</a:t>
            </a:r>
            <a:endParaRPr lang="en-US" dirty="0">
              <a:ea typeface="+mn-lt"/>
              <a:cs typeface="+mn-lt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Git selects the commit in the middle of the history (third in this case). As this version is still bugged, we enter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bad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Now, git selects the commit between first and third, which is second. As this isn't bugged, we enter 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good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As there isn't any version between second and third, the command prints out the description of the bad (third) commit.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AA5DEDE-0FF1-F7E9-8E76-B0F9B03B7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671" y="1639108"/>
            <a:ext cx="6196781" cy="146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10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0D305-C0DB-576C-0BA6-B67AF2CB1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</a:t>
            </a:r>
            <a:r>
              <a:rPr lang="en-US" dirty="0" err="1">
                <a:ea typeface="+mj-lt"/>
                <a:cs typeface="+mj-lt"/>
              </a:rPr>
              <a:t>reflog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D9C4C-80E6-3825-3A15-21CB666D2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alibri"/>
                <a:cs typeface="Calibri"/>
              </a:rPr>
              <a:t>It is </a:t>
            </a:r>
            <a:r>
              <a:rPr lang="en-US">
                <a:latin typeface="Calibri"/>
                <a:cs typeface="Calibri"/>
              </a:rPr>
              <a:t>similar to </a:t>
            </a:r>
            <a:r>
              <a:rPr lang="en-US">
                <a:latin typeface="Consolas"/>
              </a:rPr>
              <a:t>log </a:t>
            </a:r>
            <a:r>
              <a:rPr lang="en-US">
                <a:latin typeface="Calibri"/>
                <a:cs typeface="Calibri"/>
              </a:rPr>
              <a:t>but</a:t>
            </a:r>
            <a:r>
              <a:rPr lang="en-US" dirty="0">
                <a:ea typeface="+mn-lt"/>
                <a:cs typeface="+mn-lt"/>
              </a:rPr>
              <a:t> can also used for commands that don't show up in your commit history.</a:t>
            </a:r>
            <a:endParaRPr lang="en-US" dirty="0">
              <a:latin typeface="Consolas"/>
            </a:endParaRPr>
          </a:p>
          <a:p>
            <a:pPr>
              <a:buClr>
                <a:srgbClr val="435179"/>
              </a:buClr>
            </a:pPr>
            <a:r>
              <a:rPr lang="en-US">
                <a:latin typeface="Consolas"/>
              </a:rPr>
              <a:t>reflog</a:t>
            </a:r>
            <a:r>
              <a:rPr lang="en-US">
                <a:ea typeface="+mn-lt"/>
                <a:cs typeface="+mn-lt"/>
              </a:rPr>
              <a:t> is basically your safety net after running "scary" commands like </a:t>
            </a:r>
            <a:r>
              <a:rPr lang="en-US" dirty="0">
                <a:latin typeface="Consolas"/>
              </a:rPr>
              <a:t>git rebase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>
              <a:buClr>
                <a:srgbClr val="435179"/>
              </a:buClr>
            </a:pPr>
            <a:r>
              <a:rPr lang="en-US">
                <a:ea typeface="+mn-lt"/>
                <a:cs typeface="+mn-lt"/>
              </a:rPr>
              <a:t>You'll be </a:t>
            </a:r>
            <a:r>
              <a:rPr lang="en-US" dirty="0">
                <a:ea typeface="+mn-lt"/>
                <a:cs typeface="+mn-lt"/>
              </a:rPr>
              <a:t>able to see not only the commits you made, but each of the actions that led you there</a:t>
            </a:r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9EEBE5D3-E3C9-2E15-4577-03729C2DB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150" y="3030025"/>
            <a:ext cx="5354279" cy="32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3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54E4E-6780-3683-47D7-B1FE2DE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diff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6E83-67BB-A84A-818A-BC6BC8EFE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/>
                <a:cs typeface="Calibri"/>
              </a:rPr>
              <a:t>Used to see differences between: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Branches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staged (or </a:t>
            </a:r>
            <a:r>
              <a:rPr lang="en-US" dirty="0" err="1">
                <a:ea typeface="Calibri"/>
                <a:cs typeface="Calibri"/>
              </a:rPr>
              <a:t>unstaged</a:t>
            </a:r>
            <a:r>
              <a:rPr lang="en-US" dirty="0">
                <a:ea typeface="Calibri"/>
                <a:cs typeface="Calibri"/>
              </a:rPr>
              <a:t>) changes.</a:t>
            </a: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8C3D272-8259-3F35-CB7E-CE333FBEE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62" y="4452793"/>
            <a:ext cx="8888361" cy="1184768"/>
          </a:xfrm>
          <a:prstGeom prst="rect">
            <a:avLst/>
          </a:prstGeom>
        </p:spPr>
      </p:pic>
      <p:pic>
        <p:nvPicPr>
          <p:cNvPr id="5" name="Picture 5" descr="Logo&#10;&#10;Description automatically generated">
            <a:extLst>
              <a:ext uri="{FF2B5EF4-FFF2-40B4-BE49-F238E27FC236}">
                <a16:creationId xmlns:a16="http://schemas.microsoft.com/office/drawing/2014/main" id="{F0A683FA-6844-7296-4C01-2B9263CF0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563" y="2709050"/>
            <a:ext cx="5803490" cy="71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35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EE8C-5232-11B6-267D-A8BB9C488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cherry-pick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EACA7-9FA1-15B3-0438-3E2FCEACB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825625"/>
            <a:ext cx="10659110" cy="47883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pick changes from another branch and then apply to our branch.</a:t>
            </a:r>
          </a:p>
          <a:p>
            <a:pPr>
              <a:buClr>
                <a:srgbClr val="435179"/>
              </a:buClr>
            </a:pPr>
            <a:r>
              <a:rPr lang="en-US" dirty="0" err="1">
                <a:ea typeface="Calibri"/>
                <a:cs typeface="Calibri"/>
              </a:rPr>
              <a:t>eg.</a:t>
            </a:r>
            <a:r>
              <a:rPr lang="en-US" dirty="0">
                <a:ea typeface="Calibri"/>
                <a:cs typeface="Calibri"/>
              </a:rPr>
              <a:t> When in the feature branch, enter:</a:t>
            </a: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latin typeface="Consolas"/>
                <a:ea typeface="Calibri"/>
                <a:cs typeface="Calibri"/>
              </a:rPr>
              <a:t>$ git cherry-pick D</a:t>
            </a:r>
          </a:p>
          <a:p>
            <a:pPr marL="0" indent="0" algn="ctr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r>
              <a:rPr lang="en-US" dirty="0">
                <a:latin typeface="Calibri"/>
                <a:ea typeface="Calibri"/>
                <a:cs typeface="Calibri"/>
              </a:rPr>
              <a:t>The D commit (from master) is cherry picked into our feature branch.</a:t>
            </a:r>
          </a:p>
        </p:txBody>
      </p:sp>
      <p:pic>
        <p:nvPicPr>
          <p:cNvPr id="4" name="Picture 4" descr="Diagram&#10;&#10;Description automatically generated">
            <a:extLst>
              <a:ext uri="{FF2B5EF4-FFF2-40B4-BE49-F238E27FC236}">
                <a16:creationId xmlns:a16="http://schemas.microsoft.com/office/drawing/2014/main" id="{D53647B8-0E5B-E006-0EDB-9877A839F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705" y="3042397"/>
            <a:ext cx="5715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541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DA8B-9D21-F883-B785-D369F180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rebase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B01B64-378D-9F27-5F10-C3A95FDB2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Has a reputation for being magical Git voodoo that beginners should stay away </a:t>
            </a:r>
            <a:r>
              <a:rPr lang="en-US">
                <a:ea typeface="+mn-lt"/>
                <a:cs typeface="+mn-lt"/>
              </a:rPr>
              <a:t>from.</a:t>
            </a:r>
            <a:endParaRPr lang="en-US" dirty="0"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It can be used as an alternative to git merge.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Reapplies commits on top of another base tip.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Can be used if you prefer </a:t>
            </a:r>
            <a:r>
              <a:rPr lang="en-US" b="1" dirty="0">
                <a:ea typeface="+mn-lt"/>
                <a:cs typeface="+mn-lt"/>
              </a:rPr>
              <a:t>a clean, linear history free of unnecessary merge commits.</a:t>
            </a: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5622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7C46-7D73-C699-3829-5FCCD6C55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vs rebase</a:t>
            </a:r>
          </a:p>
        </p:txBody>
      </p:sp>
      <p:pic>
        <p:nvPicPr>
          <p:cNvPr id="4" name="Graphic 4">
            <a:extLst>
              <a:ext uri="{FF2B5EF4-FFF2-40B4-BE49-F238E27FC236}">
                <a16:creationId xmlns:a16="http://schemas.microsoft.com/office/drawing/2014/main" id="{AF9136F3-1206-34A4-217F-D5A5B43DDF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397" y="1600782"/>
            <a:ext cx="5437568" cy="3663081"/>
          </a:xfrm>
        </p:spPr>
      </p:pic>
      <p:pic>
        <p:nvPicPr>
          <p:cNvPr id="5" name="Graphic 5">
            <a:extLst>
              <a:ext uri="{FF2B5EF4-FFF2-40B4-BE49-F238E27FC236}">
                <a16:creationId xmlns:a16="http://schemas.microsoft.com/office/drawing/2014/main" id="{65A14C7D-905C-ABBE-B1E3-5B4C33555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19583" y="1684518"/>
            <a:ext cx="5422490" cy="3663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85016-2BBC-F65D-6373-863649BCD3FB}"/>
              </a:ext>
            </a:extLst>
          </p:cNvPr>
          <p:cNvSpPr txBox="1"/>
          <p:nvPr/>
        </p:nvSpPr>
        <p:spPr>
          <a:xfrm>
            <a:off x="956421" y="5752539"/>
            <a:ext cx="1027355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b="1" i="1" dirty="0"/>
              <a:t>Generally, </a:t>
            </a:r>
            <a:r>
              <a:rPr lang="en-US" sz="2400" b="1" i="1" dirty="0">
                <a:ea typeface="+mn-lt"/>
                <a:cs typeface="+mn-lt"/>
              </a:rPr>
              <a:t>you should merge to main branch and rebase the feature branches.</a:t>
            </a:r>
          </a:p>
        </p:txBody>
      </p:sp>
    </p:spTree>
    <p:extLst>
      <p:ext uri="{BB962C8B-B14F-4D97-AF65-F5344CB8AC3E}">
        <p14:creationId xmlns:p14="http://schemas.microsoft.com/office/powerpoint/2010/main" val="25351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D999-A8C5-C8E5-4191-746BF61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628713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21781547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AnalogousFromDarkSeedLeftStep">
      <a:dk1>
        <a:srgbClr val="000000"/>
      </a:dk1>
      <a:lt1>
        <a:srgbClr val="FFFFFF"/>
      </a:lt1>
      <a:dk2>
        <a:srgbClr val="1D2334"/>
      </a:dk2>
      <a:lt2>
        <a:srgbClr val="E3E8E2"/>
      </a:lt2>
      <a:accent1>
        <a:srgbClr val="B93FD1"/>
      </a:accent1>
      <a:accent2>
        <a:srgbClr val="6A2DBF"/>
      </a:accent2>
      <a:accent3>
        <a:srgbClr val="3F3FD1"/>
      </a:accent3>
      <a:accent4>
        <a:srgbClr val="2D6ABF"/>
      </a:accent4>
      <a:accent5>
        <a:srgbClr val="3CAFC6"/>
      </a:accent5>
      <a:accent6>
        <a:srgbClr val="2BB693"/>
      </a:accent6>
      <a:hlink>
        <a:srgbClr val="3B8AB2"/>
      </a:hlink>
      <a:folHlink>
        <a:srgbClr val="7F7F7F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ConfettiVTI</vt:lpstr>
      <vt:lpstr>KOSS Task</vt:lpstr>
      <vt:lpstr>PowerPoint Presentation</vt:lpstr>
      <vt:lpstr>What is git?</vt:lpstr>
      <vt:lpstr>Some New Git Commands</vt:lpstr>
      <vt:lpstr>git switch</vt:lpstr>
      <vt:lpstr>git stash</vt:lpstr>
      <vt:lpstr>git bisect</vt:lpstr>
      <vt:lpstr>Example for git bisect</vt:lpstr>
      <vt:lpstr>git reflog</vt:lpstr>
      <vt:lpstr>git diff</vt:lpstr>
      <vt:lpstr>git cherry-pick</vt:lpstr>
      <vt:lpstr>git rebase</vt:lpstr>
      <vt:lpstr>merge vs rebase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409</cp:revision>
  <dcterms:created xsi:type="dcterms:W3CDTF">2022-06-04T09:50:24Z</dcterms:created>
  <dcterms:modified xsi:type="dcterms:W3CDTF">2022-06-07T05:30:53Z</dcterms:modified>
</cp:coreProperties>
</file>